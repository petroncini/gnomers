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imo Bold" charset="1" panose="020B0704020202020204"/>
      <p:regular r:id="rId21"/>
    </p:embeddedFont>
    <p:embeddedFont>
      <p:font typeface="Arimo" charset="1" panose="020B0604020202020204"/>
      <p:regular r:id="rId22"/>
    </p:embeddedFont>
    <p:embeddedFont>
      <p:font typeface="Montserrat" charset="1" panose="00000500000000000000"/>
      <p:regular r:id="rId27"/>
    </p:embeddedFont>
    <p:embeddedFont>
      <p:font typeface="Arial Bold" charset="1" panose="020B0704020202020204"/>
      <p:regular r:id="rId33"/>
    </p:embeddedFont>
    <p:embeddedFont>
      <p:font typeface="Arial" charset="1" panose="020B0604020202020204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notesSlides/notesSlide2.xml" Type="http://schemas.openxmlformats.org/officeDocument/2006/relationships/notesSlide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notesSlides/notesSlide5.xml" Type="http://schemas.openxmlformats.org/officeDocument/2006/relationships/notesSlide"/><Relationship Id="rId27" Target="fonts/font27.fntdata" Type="http://schemas.openxmlformats.org/officeDocument/2006/relationships/font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notesSlides/notesSlide11.xml" Type="http://schemas.openxmlformats.org/officeDocument/2006/relationships/notesSlide"/><Relationship Id="rId36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(0:10) “Somos o time Gnomers, e esta é a Cesta: compra de mercado no iFood sem o trabalho de montar o carrinho.”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(0:30) “O delivery de mercado está crescendo, mas o usuário ainda não aderiu. No restaurante, escolher o lugar resolve o pedido. No mercado, a lista é longa, os mesmos produtos estão em vários mercados e o que importa é levar tudo pelo menor preço. O usuário novo desiste antes de começar, e o ativo repete esse trabalho toda semana.”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(0:25) “As listas do iFood prendem cada item a um produto. Se você pede café solúvel, ele sugere cappuccino. E o preço da lista não é o que você paga. Os assistentes de chat comparam bem os preços, mas mostram um valor sem frete, e revisar 25 itens lendo blocos de texto é mais lento que um app.”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(0:25) “As listas do iFood prendem cada item a um produto. Se você pede café solúvel, ele sugere cappuccino. E o preço da lista não é o que você paga. Os assistentes de chat comparam bem os preços, mas mostram um valor sem frete, e revisar 25 itens lendo blocos de texto é mais lento que um app.”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(0:30) “A lista fica salva: semanal, mensal, remédios. Você escreve cada item do seu jeito, e o agente mostra como entendeu. Pode pedir ‘café moído, qualquer marca’, e ele não exige um produto específico.”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(0:40) “Um toque em ‘Montar carrinho’. O agente busca cada item nos mercados próximos, escolhe o que serve e monta carrinhos de verdade no iFood, testando os cupons. O total que você vê é o total que você paga. E ele só divide a compra entre mercados quando isso compensa.”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(0:40) “Quando falta a marca que você pediu, o carrinho não trava: a troca já vem aplicada num cartão, e você aceita ou troca. Aqui o agente colocou farinha comum no lugar da integral. Eu disse ‘quero a integral’, ele trocou no carrinho real e perguntou se deve salvar isso como regra. Na próxima compra, ninguém precisa repetir.”</a:t>
            </a:r>
          </a:p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(0:25) “O chat não substitui a lista, ele faz o ajuste fino. ‘Tem leite sem lactose nesse mercado?’ O agente busca no iFood, mostra o que buscou e já calcula quanto o total sobe se você trocar.”</a:t>
            </a:r>
          </a:p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(0:25) “A Cesta aprende o que você compra e com que frequência. Quando um desses itens entra em promoção perto do dia da compra, ela avisa e oferece adiantar. É o app trazendo o usuário de volta no ritmo da casa.”</a:t>
            </a:r>
          </a:p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(0:30) “Três decisões sustentam isso. O LLM faz só o que é ambíguo: entender o item e julgar se um produto serve. Quem escolhe produtos e mercados é um otimizador, que é determinístico: a mesma lista gera o mesmo carrinho. O preço vem de carrinhos montados no iFood, porque frete, taxa e cupom só existem lá. E o agente com acesso livre às tools só aparece no chat, onde os pedidos são abertos. Montar o carrinho é um fluxo fixo, previsível e barato, e o agente nunca fecha um pedido sozinho.”</a:t>
            </a:r>
          </a:p>
          <a:p>
            <a:r>
              <a:rPr lang="en-US"/>
              <a:t>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(0:25) “Daqui, três passos. Compra em grupo: a lista da república ou da família, com cada um pagando os seus itens e uma parte do frete. Promoções em tempo real: hoje o aviso de promoção é simulado na demo, e o próximo passo é ligá-lo às ofertas do iFood. E, principalmente, levar listas flexíveis e preço real para dentro do próprio app do iFood.”</a:t>
            </a:r>
          </a:p>
          <a:p>
            <a:r>
              <a:rPr lang="en-US"/>
              <a:t>10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(0:10) “Para quem compra, menos trabalho e um preço confiável. Para o iFood, um jeito de trazer o usuário para o mercado e fazê-lo voltar toda semana. Obrigado!”</a:t>
            </a:r>
          </a:p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0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8.png" Type="http://schemas.openxmlformats.org/officeDocument/2006/relationships/image"/><Relationship Id="rId7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4.png" Type="http://schemas.openxmlformats.org/officeDocument/2006/relationships/image"/><Relationship Id="rId4" Target="../media/image8.pn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6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8.png" Type="http://schemas.openxmlformats.org/officeDocument/2006/relationships/image"/><Relationship Id="rId4" Target="../media/image19.jpeg" Type="http://schemas.openxmlformats.org/officeDocument/2006/relationships/image"/><Relationship Id="rId5" Target="../media/image20.png" Type="http://schemas.openxmlformats.org/officeDocument/2006/relationships/image"/><Relationship Id="rId6" Target="../media/image2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2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61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200" y="2733675"/>
            <a:ext cx="1524000" cy="1524000"/>
            <a:chOff x="0" y="0"/>
            <a:chExt cx="2032000" cy="2032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20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2032000">
                  <a:moveTo>
                    <a:pt x="0" y="508000"/>
                  </a:moveTo>
                  <a:cubicBezTo>
                    <a:pt x="0" y="227457"/>
                    <a:pt x="227457" y="0"/>
                    <a:pt x="508000" y="0"/>
                  </a:cubicBezTo>
                  <a:lnTo>
                    <a:pt x="1524000" y="0"/>
                  </a:lnTo>
                  <a:cubicBezTo>
                    <a:pt x="1804543" y="0"/>
                    <a:pt x="2032000" y="227457"/>
                    <a:pt x="2032000" y="508000"/>
                  </a:cubicBezTo>
                  <a:lnTo>
                    <a:pt x="2032000" y="1524000"/>
                  </a:lnTo>
                  <a:cubicBezTo>
                    <a:pt x="2032000" y="1804543"/>
                    <a:pt x="1804543" y="2032000"/>
                    <a:pt x="1524000" y="2032000"/>
                  </a:cubicBezTo>
                  <a:lnTo>
                    <a:pt x="508000" y="2032000"/>
                  </a:lnTo>
                  <a:cubicBezTo>
                    <a:pt x="227457" y="2032000"/>
                    <a:pt x="0" y="1804543"/>
                    <a:pt x="0" y="15240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24000" y="3038475"/>
            <a:ext cx="914400" cy="914400"/>
            <a:chOff x="0" y="0"/>
            <a:chExt cx="1219200" cy="1219200"/>
          </a:xfrm>
        </p:grpSpPr>
        <p:sp>
          <p:nvSpPr>
            <p:cNvPr name="Freeform 5" id="5" descr="Logo da Cesta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0"/>
                  </a:moveTo>
                  <a:lnTo>
                    <a:pt x="1219200" y="0"/>
                  </a:lnTo>
                  <a:lnTo>
                    <a:pt x="12192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19200" y="4733925"/>
            <a:ext cx="16325088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0"/>
              </a:lnSpc>
            </a:pPr>
            <a:r>
              <a:rPr lang="en-US" b="true" sz="9000" spc="-15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Cesta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9200" y="6162675"/>
            <a:ext cx="16325088" cy="1123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Você mantém a lista.</a:t>
            </a:r>
          </a:p>
          <a:p>
            <a:pPr algn="l">
              <a:lnSpc>
                <a:spcPts val="4050"/>
              </a:lnSpc>
            </a:pPr>
            <a:r>
              <a:rPr lang="en-US" sz="30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 agente monta o carrinho.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9200" y="9300210"/>
            <a:ext cx="16325088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Hackathon SEMCOMP × iFood 2026 · time Gnomers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085850"/>
            <a:ext cx="16325088" cy="7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b="true" sz="5400" spc="-75">
                <a:solidFill>
                  <a:srgbClr val="1F1F1F"/>
                </a:solidFill>
                <a:latin typeface="Arimo Bold"/>
                <a:ea typeface="Arimo Bold"/>
                <a:cs typeface="Arimo Bold"/>
                <a:sym typeface="Arimo Bold"/>
              </a:rPr>
              <a:t>Mercado não é restaurante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19200" y="2278380"/>
            <a:ext cx="7743825" cy="5398770"/>
            <a:chOff x="0" y="0"/>
            <a:chExt cx="10325100" cy="71983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25100" cy="7198360"/>
            </a:xfrm>
            <a:custGeom>
              <a:avLst/>
              <a:gdLst/>
              <a:ahLst/>
              <a:cxnLst/>
              <a:rect r="r" b="b" t="t" l="l"/>
              <a:pathLst>
                <a:path h="7198360" w="10325100">
                  <a:moveTo>
                    <a:pt x="0" y="349885"/>
                  </a:moveTo>
                  <a:cubicBezTo>
                    <a:pt x="0" y="156591"/>
                    <a:pt x="156591" y="0"/>
                    <a:pt x="349885" y="0"/>
                  </a:cubicBezTo>
                  <a:lnTo>
                    <a:pt x="9975215" y="0"/>
                  </a:lnTo>
                  <a:cubicBezTo>
                    <a:pt x="10168509" y="0"/>
                    <a:pt x="10325100" y="156591"/>
                    <a:pt x="10325100" y="349885"/>
                  </a:cubicBezTo>
                  <a:lnTo>
                    <a:pt x="10325100" y="6848475"/>
                  </a:lnTo>
                  <a:cubicBezTo>
                    <a:pt x="10325100" y="7041642"/>
                    <a:pt x="10168509" y="7198360"/>
                    <a:pt x="9975215" y="7198360"/>
                  </a:cubicBezTo>
                  <a:lnTo>
                    <a:pt x="349885" y="7198360"/>
                  </a:lnTo>
                  <a:cubicBezTo>
                    <a:pt x="156591" y="7198360"/>
                    <a:pt x="0" y="7041769"/>
                    <a:pt x="0" y="6848475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BEBEB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762125" y="2821305"/>
            <a:ext cx="990600" cy="990600"/>
            <a:chOff x="0" y="0"/>
            <a:chExt cx="1320800" cy="1320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20800" cy="1320800"/>
            </a:xfrm>
            <a:custGeom>
              <a:avLst/>
              <a:gdLst/>
              <a:ahLst/>
              <a:cxnLst/>
              <a:rect r="r" b="b" t="t" l="l"/>
              <a:pathLst>
                <a:path h="1320800" w="1320800">
                  <a:moveTo>
                    <a:pt x="0" y="660400"/>
                  </a:moveTo>
                  <a:cubicBezTo>
                    <a:pt x="0" y="295656"/>
                    <a:pt x="295656" y="0"/>
                    <a:pt x="660400" y="0"/>
                  </a:cubicBezTo>
                  <a:cubicBezTo>
                    <a:pt x="1025144" y="0"/>
                    <a:pt x="1320800" y="295656"/>
                    <a:pt x="1320800" y="660400"/>
                  </a:cubicBezTo>
                  <a:cubicBezTo>
                    <a:pt x="1320800" y="1025144"/>
                    <a:pt x="1025144" y="1320800"/>
                    <a:pt x="660400" y="1320800"/>
                  </a:cubicBezTo>
                  <a:cubicBezTo>
                    <a:pt x="295656" y="1320800"/>
                    <a:pt x="0" y="1025144"/>
                    <a:pt x="0" y="660400"/>
                  </a:cubicBezTo>
                  <a:close/>
                </a:path>
              </a:pathLst>
            </a:custGeom>
            <a:solidFill>
              <a:srgbClr val="FDE8E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952625" y="3011805"/>
            <a:ext cx="609600" cy="609600"/>
            <a:chOff x="0" y="0"/>
            <a:chExt cx="812800" cy="812800"/>
          </a:xfrm>
        </p:grpSpPr>
        <p:sp>
          <p:nvSpPr>
            <p:cNvPr name="Freeform 8" id="8" descr="Prato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762125" y="4059555"/>
            <a:ext cx="685771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F1F1F"/>
                </a:solidFill>
                <a:latin typeface="Arimo Bold"/>
                <a:ea typeface="Arimo Bold"/>
                <a:cs typeface="Arimo Bold"/>
                <a:sym typeface="Arimo Bold"/>
              </a:rPr>
              <a:t>Restaurante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62125" y="4745355"/>
            <a:ext cx="6857714" cy="5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6B6B6B"/>
                </a:solidFill>
                <a:latin typeface="Arimo"/>
                <a:ea typeface="Arimo"/>
                <a:cs typeface="Arimo"/>
                <a:sym typeface="Arimo"/>
              </a:rPr>
              <a:t>Escolhe o lugar, escolhe o prato.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344025" y="2278380"/>
            <a:ext cx="7724775" cy="5398770"/>
            <a:chOff x="0" y="0"/>
            <a:chExt cx="10299700" cy="71983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99700" cy="7198360"/>
            </a:xfrm>
            <a:custGeom>
              <a:avLst/>
              <a:gdLst/>
              <a:ahLst/>
              <a:cxnLst/>
              <a:rect r="r" b="b" t="t" l="l"/>
              <a:pathLst>
                <a:path h="7198360" w="10299700">
                  <a:moveTo>
                    <a:pt x="0" y="355600"/>
                  </a:moveTo>
                  <a:cubicBezTo>
                    <a:pt x="0" y="159258"/>
                    <a:pt x="159258" y="0"/>
                    <a:pt x="355600" y="0"/>
                  </a:cubicBezTo>
                  <a:lnTo>
                    <a:pt x="9944100" y="0"/>
                  </a:lnTo>
                  <a:cubicBezTo>
                    <a:pt x="10140442" y="0"/>
                    <a:pt x="10299700" y="159258"/>
                    <a:pt x="10299700" y="355600"/>
                  </a:cubicBezTo>
                  <a:lnTo>
                    <a:pt x="10299700" y="6842760"/>
                  </a:lnTo>
                  <a:cubicBezTo>
                    <a:pt x="10299700" y="7039102"/>
                    <a:pt x="10140442" y="7198360"/>
                    <a:pt x="9944100" y="7198360"/>
                  </a:cubicBezTo>
                  <a:lnTo>
                    <a:pt x="355600" y="7198360"/>
                  </a:lnTo>
                  <a:cubicBezTo>
                    <a:pt x="159258" y="7198360"/>
                    <a:pt x="0" y="7039102"/>
                    <a:pt x="0" y="6842760"/>
                  </a:cubicBezTo>
                  <a:close/>
                </a:path>
              </a:pathLst>
            </a:custGeom>
            <a:solidFill>
              <a:srgbClr val="D61F2C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877425" y="2811780"/>
            <a:ext cx="990600" cy="990600"/>
            <a:chOff x="0" y="0"/>
            <a:chExt cx="1320800" cy="1320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20800" cy="1320800"/>
            </a:xfrm>
            <a:custGeom>
              <a:avLst/>
              <a:gdLst/>
              <a:ahLst/>
              <a:cxnLst/>
              <a:rect r="r" b="b" t="t" l="l"/>
              <a:pathLst>
                <a:path h="1320800" w="1320800">
                  <a:moveTo>
                    <a:pt x="0" y="660400"/>
                  </a:moveTo>
                  <a:cubicBezTo>
                    <a:pt x="0" y="295656"/>
                    <a:pt x="295656" y="0"/>
                    <a:pt x="660400" y="0"/>
                  </a:cubicBezTo>
                  <a:cubicBezTo>
                    <a:pt x="1025144" y="0"/>
                    <a:pt x="1320800" y="295656"/>
                    <a:pt x="1320800" y="660400"/>
                  </a:cubicBezTo>
                  <a:cubicBezTo>
                    <a:pt x="1320800" y="1025144"/>
                    <a:pt x="1025144" y="1320800"/>
                    <a:pt x="660400" y="1320800"/>
                  </a:cubicBezTo>
                  <a:cubicBezTo>
                    <a:pt x="295656" y="1320800"/>
                    <a:pt x="0" y="1025144"/>
                    <a:pt x="0" y="660400"/>
                  </a:cubicBezTo>
                  <a:close/>
                </a:path>
              </a:pathLst>
            </a:custGeom>
            <a:solidFill>
              <a:srgbClr val="FFFFFF">
                <a:alpha val="2353"/>
              </a:srgbClr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0067925" y="3002280"/>
            <a:ext cx="609600" cy="609600"/>
            <a:chOff x="0" y="0"/>
            <a:chExt cx="812800" cy="812800"/>
          </a:xfrm>
        </p:grpSpPr>
        <p:sp>
          <p:nvSpPr>
            <p:cNvPr name="Freeform 16" id="16" descr="Lista longa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877425" y="4050030"/>
            <a:ext cx="685771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Mercado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77425" y="4735830"/>
            <a:ext cx="6857714" cy="94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20 itens, vários mercados, frete, mínimo, substituições.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19200" y="8134350"/>
            <a:ext cx="15849600" cy="1085850"/>
            <a:chOff x="0" y="0"/>
            <a:chExt cx="21132800" cy="1447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132800" cy="1447800"/>
            </a:xfrm>
            <a:custGeom>
              <a:avLst/>
              <a:gdLst/>
              <a:ahLst/>
              <a:cxnLst/>
              <a:rect r="r" b="b" t="t" l="l"/>
              <a:pathLst>
                <a:path h="1447800" w="21132800">
                  <a:moveTo>
                    <a:pt x="0" y="301117"/>
                  </a:moveTo>
                  <a:cubicBezTo>
                    <a:pt x="0" y="134747"/>
                    <a:pt x="134747" y="0"/>
                    <a:pt x="301117" y="0"/>
                  </a:cubicBezTo>
                  <a:lnTo>
                    <a:pt x="20831683" y="0"/>
                  </a:lnTo>
                  <a:cubicBezTo>
                    <a:pt x="20998053" y="0"/>
                    <a:pt x="21132800" y="134747"/>
                    <a:pt x="21132800" y="301117"/>
                  </a:cubicBezTo>
                  <a:lnTo>
                    <a:pt x="21132800" y="1146683"/>
                  </a:lnTo>
                  <a:cubicBezTo>
                    <a:pt x="21132800" y="1312926"/>
                    <a:pt x="20998053" y="1447800"/>
                    <a:pt x="20831683" y="1447800"/>
                  </a:cubicBezTo>
                  <a:lnTo>
                    <a:pt x="301117" y="1447800"/>
                  </a:lnTo>
                  <a:cubicBezTo>
                    <a:pt x="134747" y="1447800"/>
                    <a:pt x="0" y="1313053"/>
                    <a:pt x="0" y="1146683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BEBEB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1685925" y="8334375"/>
            <a:ext cx="1948177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D61F2C"/>
                </a:solidFill>
                <a:latin typeface="Arimo Bold"/>
                <a:ea typeface="Arimo Bold"/>
                <a:cs typeface="Arimo Bold"/>
                <a:sym typeface="Arimo Bold"/>
              </a:rPr>
              <a:t>US$ 6,3 bi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786502" y="8406765"/>
            <a:ext cx="1164526" cy="5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6B6B6B"/>
                </a:solidFill>
                <a:latin typeface="Arimo"/>
                <a:ea typeface="Arimo"/>
                <a:cs typeface="Arimo"/>
                <a:sym typeface="Arimo"/>
              </a:rPr>
              <a:t>(2025)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985547" y="8334375"/>
            <a:ext cx="457200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6B6B6B"/>
                </a:solidFill>
                <a:latin typeface="Arimo Bold"/>
                <a:ea typeface="Arimo Bold"/>
                <a:cs typeface="Arimo Bold"/>
                <a:sym typeface="Arimo Bold"/>
              </a:rPr>
              <a:t>→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595147" y="8334375"/>
            <a:ext cx="2161061" cy="647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D61F2C"/>
                </a:solidFill>
                <a:latin typeface="Arimo Bold"/>
                <a:ea typeface="Arimo Bold"/>
                <a:cs typeface="Arimo Bold"/>
                <a:sym typeface="Arimo Bold"/>
              </a:rPr>
              <a:t>US$ 10,4 bi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908607" y="8406765"/>
            <a:ext cx="1207960" cy="5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6B6B6B"/>
                </a:solidFill>
                <a:latin typeface="Arimo"/>
                <a:ea typeface="Arimo"/>
                <a:cs typeface="Arimo"/>
                <a:sym typeface="Arimo"/>
              </a:rPr>
              <a:t>(2030)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085850"/>
            <a:ext cx="16325088" cy="7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b="true" sz="5400" spc="-75">
                <a:solidFill>
                  <a:srgbClr val="1F1F1F"/>
                </a:solidFill>
                <a:latin typeface="Arimo Bold"/>
                <a:ea typeface="Arimo Bold"/>
                <a:cs typeface="Arimo Bold"/>
                <a:sym typeface="Arimo Bold"/>
              </a:rPr>
              <a:t>O que existe hoje não resolve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19200" y="2354580"/>
            <a:ext cx="7734300" cy="4869114"/>
            <a:chOff x="0" y="0"/>
            <a:chExt cx="10312400" cy="649215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312400" cy="6492152"/>
            </a:xfrm>
            <a:custGeom>
              <a:avLst/>
              <a:gdLst/>
              <a:ahLst/>
              <a:cxnLst/>
              <a:rect r="r" b="b" t="t" l="l"/>
              <a:pathLst>
                <a:path h="6492152" w="10312400">
                  <a:moveTo>
                    <a:pt x="0" y="436558"/>
                  </a:moveTo>
                  <a:cubicBezTo>
                    <a:pt x="0" y="195398"/>
                    <a:pt x="156718" y="0"/>
                    <a:pt x="350139" y="0"/>
                  </a:cubicBezTo>
                  <a:lnTo>
                    <a:pt x="9962261" y="0"/>
                  </a:lnTo>
                  <a:cubicBezTo>
                    <a:pt x="10155682" y="0"/>
                    <a:pt x="10312400" y="195398"/>
                    <a:pt x="10312400" y="436558"/>
                  </a:cubicBezTo>
                  <a:lnTo>
                    <a:pt x="10312400" y="6055594"/>
                  </a:lnTo>
                  <a:cubicBezTo>
                    <a:pt x="10312400" y="6296754"/>
                    <a:pt x="10155682" y="6492152"/>
                    <a:pt x="9962261" y="6492152"/>
                  </a:cubicBezTo>
                  <a:lnTo>
                    <a:pt x="350139" y="6492152"/>
                  </a:lnTo>
                  <a:cubicBezTo>
                    <a:pt x="156718" y="6492152"/>
                    <a:pt x="0" y="6296754"/>
                    <a:pt x="0" y="6055594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BEBEB"/>
              </a:solidFill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762125" y="2878455"/>
            <a:ext cx="684790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F1F1F"/>
                </a:solidFill>
                <a:latin typeface="Arimo Bold"/>
                <a:ea typeface="Arimo Bold"/>
                <a:cs typeface="Arimo Bold"/>
                <a:sym typeface="Arimo Bold"/>
              </a:rPr>
              <a:t>Listas do iFood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762125" y="3735705"/>
            <a:ext cx="457200" cy="457200"/>
            <a:chOff x="0" y="0"/>
            <a:chExt cx="609600" cy="609600"/>
          </a:xfrm>
        </p:grpSpPr>
        <p:sp>
          <p:nvSpPr>
            <p:cNvPr name="Freeform 7" id="7" descr="Não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2447925" y="3728085"/>
            <a:ext cx="4138041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1F1F1F"/>
                </a:solidFill>
                <a:latin typeface="Arimo"/>
                <a:ea typeface="Arimo"/>
                <a:cs typeface="Arimo"/>
                <a:sym typeface="Arimo"/>
              </a:rPr>
              <a:t>Item preso a uma marca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447925" y="4520565"/>
            <a:ext cx="5086731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1F1F1F"/>
                </a:solidFill>
                <a:latin typeface="Arimo"/>
                <a:ea typeface="Arimo"/>
                <a:cs typeface="Arimo"/>
                <a:sym typeface="Arimo"/>
              </a:rPr>
              <a:t>Substituição que ignora você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762125" y="4535805"/>
            <a:ext cx="457200" cy="457200"/>
            <a:chOff x="0" y="0"/>
            <a:chExt cx="609600" cy="609600"/>
          </a:xfrm>
        </p:grpSpPr>
        <p:sp>
          <p:nvSpPr>
            <p:cNvPr name="Freeform 11" id="11" descr="Não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334500" y="2354580"/>
            <a:ext cx="7734300" cy="4869114"/>
            <a:chOff x="0" y="0"/>
            <a:chExt cx="10312400" cy="649215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312400" cy="6492152"/>
            </a:xfrm>
            <a:custGeom>
              <a:avLst/>
              <a:gdLst/>
              <a:ahLst/>
              <a:cxnLst/>
              <a:rect r="r" b="b" t="t" l="l"/>
              <a:pathLst>
                <a:path h="6492152" w="10312400">
                  <a:moveTo>
                    <a:pt x="0" y="436558"/>
                  </a:moveTo>
                  <a:cubicBezTo>
                    <a:pt x="0" y="195398"/>
                    <a:pt x="156718" y="0"/>
                    <a:pt x="350139" y="0"/>
                  </a:cubicBezTo>
                  <a:lnTo>
                    <a:pt x="9962261" y="0"/>
                  </a:lnTo>
                  <a:cubicBezTo>
                    <a:pt x="10155682" y="0"/>
                    <a:pt x="10312400" y="195398"/>
                    <a:pt x="10312400" y="436558"/>
                  </a:cubicBezTo>
                  <a:lnTo>
                    <a:pt x="10312400" y="6055594"/>
                  </a:lnTo>
                  <a:cubicBezTo>
                    <a:pt x="10312400" y="6296754"/>
                    <a:pt x="10155682" y="6492152"/>
                    <a:pt x="9962261" y="6492152"/>
                  </a:cubicBezTo>
                  <a:lnTo>
                    <a:pt x="350139" y="6492152"/>
                  </a:lnTo>
                  <a:cubicBezTo>
                    <a:pt x="156718" y="6492152"/>
                    <a:pt x="0" y="6296754"/>
                    <a:pt x="0" y="6055594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BEBEB"/>
              </a:solidFill>
              <a:prstDash val="solid"/>
              <a:miter/>
            </a:ln>
          </p:spPr>
        </p:sp>
      </p:grpSp>
      <p:sp>
        <p:nvSpPr>
          <p:cNvPr name="TextBox 14" id="14"/>
          <p:cNvSpPr txBox="true"/>
          <p:nvPr/>
        </p:nvSpPr>
        <p:spPr>
          <a:xfrm rot="0">
            <a:off x="9877425" y="2878455"/>
            <a:ext cx="684790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F1F1F"/>
                </a:solidFill>
                <a:latin typeface="Arimo Bold"/>
                <a:ea typeface="Arimo Bold"/>
                <a:cs typeface="Arimo Bold"/>
                <a:sym typeface="Arimo Bold"/>
              </a:rPr>
              <a:t>Assistente por chat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877425" y="3735705"/>
            <a:ext cx="457200" cy="457200"/>
            <a:chOff x="0" y="0"/>
            <a:chExt cx="609600" cy="609600"/>
          </a:xfrm>
        </p:grpSpPr>
        <p:sp>
          <p:nvSpPr>
            <p:cNvPr name="Freeform 16" id="16" descr="Não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10563225" y="3728085"/>
            <a:ext cx="5611439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1F1F1F"/>
                </a:solidFill>
                <a:latin typeface="Arimo"/>
                <a:ea typeface="Arimo"/>
                <a:cs typeface="Arimo"/>
                <a:sym typeface="Arimo"/>
              </a:rPr>
              <a:t>Dificuldade em acessar listas anteriores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9877425" y="4497705"/>
            <a:ext cx="457200" cy="457200"/>
            <a:chOff x="0" y="0"/>
            <a:chExt cx="609600" cy="609600"/>
          </a:xfrm>
        </p:grpSpPr>
        <p:sp>
          <p:nvSpPr>
            <p:cNvPr name="Freeform 19" id="19" descr="Não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0563225" y="4490085"/>
            <a:ext cx="4628388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1F1F1F"/>
                </a:solidFill>
                <a:latin typeface="Arimo"/>
                <a:ea typeface="Arimo"/>
                <a:cs typeface="Arimo"/>
                <a:sym typeface="Arimo"/>
              </a:rPr>
              <a:t>Lista longa vira texto longo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877425" y="5259705"/>
            <a:ext cx="457200" cy="457200"/>
            <a:chOff x="0" y="0"/>
            <a:chExt cx="609600" cy="609600"/>
          </a:xfrm>
        </p:grpSpPr>
        <p:sp>
          <p:nvSpPr>
            <p:cNvPr name="Freeform 22" id="22" descr="Não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0563225" y="5252085"/>
            <a:ext cx="4628388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1F1F1F"/>
                </a:solidFill>
                <a:latin typeface="Arimo"/>
                <a:ea typeface="Arimo"/>
                <a:cs typeface="Arimo"/>
                <a:sym typeface="Arimo"/>
              </a:rPr>
              <a:t>Recorrencia depende do usuário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447925" y="5280660"/>
            <a:ext cx="5086731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1F1F1F"/>
                </a:solidFill>
                <a:latin typeface="Arimo"/>
                <a:ea typeface="Arimo"/>
                <a:cs typeface="Arimo"/>
                <a:sym typeface="Arimo"/>
              </a:rPr>
              <a:t>Lista de substituição fixa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762125" y="5295900"/>
            <a:ext cx="457200" cy="457200"/>
            <a:chOff x="0" y="0"/>
            <a:chExt cx="609600" cy="609600"/>
          </a:xfrm>
        </p:grpSpPr>
        <p:sp>
          <p:nvSpPr>
            <p:cNvPr name="Freeform 26" id="26" descr="Não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10563225" y="6080760"/>
            <a:ext cx="4628388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1F1F1F"/>
                </a:solidFill>
                <a:latin typeface="Arimo"/>
                <a:ea typeface="Arimo"/>
                <a:cs typeface="Arimo"/>
                <a:sym typeface="Arimo"/>
              </a:rPr>
              <a:t>Fluxo inteiro por chat não flui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877425" y="6021705"/>
            <a:ext cx="457200" cy="457200"/>
            <a:chOff x="0" y="0"/>
            <a:chExt cx="609600" cy="609600"/>
          </a:xfrm>
        </p:grpSpPr>
        <p:sp>
          <p:nvSpPr>
            <p:cNvPr name="Freeform 29" id="29" descr="Não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2447925" y="6069330"/>
            <a:ext cx="5086731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1F1F1F"/>
                </a:solidFill>
                <a:latin typeface="Arimo"/>
                <a:ea typeface="Arimo"/>
                <a:cs typeface="Arimo"/>
                <a:sym typeface="Arimo"/>
              </a:rPr>
              <a:t>Todos os itens no mesmo mercado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762125" y="6057900"/>
            <a:ext cx="457200" cy="457200"/>
            <a:chOff x="0" y="0"/>
            <a:chExt cx="609600" cy="609600"/>
          </a:xfrm>
        </p:grpSpPr>
        <p:sp>
          <p:nvSpPr>
            <p:cNvPr name="Freeform 32" id="32" descr="Não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644925" y="2446590"/>
            <a:ext cx="10808730" cy="6090863"/>
            <a:chOff x="0" y="0"/>
            <a:chExt cx="14411640" cy="812115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411640" cy="8121152"/>
            </a:xfrm>
            <a:custGeom>
              <a:avLst/>
              <a:gdLst/>
              <a:ahLst/>
              <a:cxnLst/>
              <a:rect r="r" b="b" t="t" l="l"/>
              <a:pathLst>
                <a:path h="8121152" w="14411640">
                  <a:moveTo>
                    <a:pt x="0" y="546098"/>
                  </a:moveTo>
                  <a:cubicBezTo>
                    <a:pt x="0" y="244427"/>
                    <a:pt x="219014" y="0"/>
                    <a:pt x="489321" y="0"/>
                  </a:cubicBezTo>
                  <a:lnTo>
                    <a:pt x="13922318" y="0"/>
                  </a:lnTo>
                  <a:cubicBezTo>
                    <a:pt x="14192625" y="0"/>
                    <a:pt x="14411640" y="244427"/>
                    <a:pt x="14411640" y="546098"/>
                  </a:cubicBezTo>
                  <a:lnTo>
                    <a:pt x="14411640" y="7575053"/>
                  </a:lnTo>
                  <a:cubicBezTo>
                    <a:pt x="14411640" y="7876725"/>
                    <a:pt x="14192625" y="8121152"/>
                    <a:pt x="13922318" y="8121152"/>
                  </a:cubicBezTo>
                  <a:lnTo>
                    <a:pt x="489321" y="8121152"/>
                  </a:lnTo>
                  <a:cubicBezTo>
                    <a:pt x="219014" y="8121152"/>
                    <a:pt x="0" y="7876725"/>
                    <a:pt x="0" y="7575053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BEBEB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4282910" y="3024956"/>
            <a:ext cx="457200" cy="457200"/>
            <a:chOff x="0" y="0"/>
            <a:chExt cx="609600" cy="609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5864" t="-52108" r="-56640" b="-60396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1219200" y="1085850"/>
            <a:ext cx="6481398" cy="8020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b="true" sz="5400" spc="-75">
                <a:solidFill>
                  <a:srgbClr val="1F1F1F"/>
                </a:solidFill>
                <a:latin typeface="Arimo Bold"/>
                <a:ea typeface="Arimo Bold"/>
                <a:cs typeface="Arimo Bold"/>
                <a:sym typeface="Arimo Bold"/>
              </a:rPr>
              <a:t>Como resolvemos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968710" y="3035434"/>
            <a:ext cx="7262449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1F1F1F"/>
                </a:solidFill>
                <a:latin typeface="Arimo"/>
                <a:ea typeface="Arimo"/>
                <a:cs typeface="Arimo"/>
                <a:sym typeface="Arimo"/>
              </a:rPr>
              <a:t>Items flexiveis, interpretados por linguagem natural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4282910" y="3882206"/>
            <a:ext cx="457200" cy="457200"/>
            <a:chOff x="0" y="0"/>
            <a:chExt cx="609600" cy="609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5864" t="-52108" r="-56640" b="-60396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4968710" y="3892684"/>
            <a:ext cx="7323712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1F1F1F"/>
                </a:solidFill>
                <a:latin typeface="Arimo"/>
                <a:ea typeface="Arimo"/>
                <a:cs typeface="Arimo"/>
                <a:sym typeface="Arimo"/>
              </a:rPr>
              <a:t>Substituição baseada nas preferências do usuário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4282910" y="4787081"/>
            <a:ext cx="457200" cy="457200"/>
            <a:chOff x="0" y="0"/>
            <a:chExt cx="609600" cy="60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5864" t="-52108" r="-56640" b="-60396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4968710" y="4797559"/>
            <a:ext cx="6269990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1F1F1F"/>
                </a:solidFill>
                <a:latin typeface="Arimo"/>
                <a:ea typeface="Arimo"/>
                <a:cs typeface="Arimo"/>
                <a:sym typeface="Arimo"/>
              </a:rPr>
              <a:t>Alterações flexiveis por linguagem natural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282910" y="5644331"/>
            <a:ext cx="457200" cy="457200"/>
            <a:chOff x="0" y="0"/>
            <a:chExt cx="609600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5864" t="-52108" r="-56640" b="-60396"/>
              </a:stretch>
            </a:blip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4968710" y="5654809"/>
            <a:ext cx="5718624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1F1F1F"/>
                </a:solidFill>
                <a:latin typeface="Arimo"/>
                <a:ea typeface="Arimo"/>
                <a:cs typeface="Arimo"/>
                <a:sym typeface="Arimo"/>
              </a:rPr>
              <a:t>Interface em lista para fácil visualização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4282910" y="6501581"/>
            <a:ext cx="457200" cy="457200"/>
            <a:chOff x="0" y="0"/>
            <a:chExt cx="609600" cy="6096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5864" t="-52108" r="-56640" b="-60396"/>
              </a:stretch>
            </a:blip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4968710" y="6512059"/>
            <a:ext cx="5718624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1F1F1F"/>
                </a:solidFill>
                <a:latin typeface="Arimo"/>
                <a:ea typeface="Arimo"/>
                <a:cs typeface="Arimo"/>
                <a:sym typeface="Arimo"/>
              </a:rPr>
              <a:t>Proatividade com avisos de promoções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968710" y="7367404"/>
            <a:ext cx="7262449" cy="398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1F1F1F"/>
                </a:solidFill>
                <a:latin typeface="Arimo"/>
                <a:ea typeface="Arimo"/>
                <a:cs typeface="Arimo"/>
                <a:sym typeface="Arimo"/>
              </a:rPr>
              <a:t>Opção e ajuste de compra em mais de um mercado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4282910" y="7358831"/>
            <a:ext cx="457200" cy="457200"/>
            <a:chOff x="0" y="0"/>
            <a:chExt cx="609600" cy="6096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55864" t="-52108" r="-56640" b="-60396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710690"/>
            <a:ext cx="5494020" cy="152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b="true" sz="5400" spc="-75">
                <a:solidFill>
                  <a:srgbClr val="1F1F1F"/>
                </a:solidFill>
                <a:latin typeface="Arimo Bold"/>
                <a:ea typeface="Arimo Bold"/>
                <a:cs typeface="Arimo Bold"/>
                <a:sym typeface="Arimo Bold"/>
              </a:rPr>
              <a:t>Você escreve como fala.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19200" y="6069330"/>
            <a:ext cx="5334000" cy="3150870"/>
            <a:chOff x="0" y="0"/>
            <a:chExt cx="7112000" cy="420116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112000" cy="4201160"/>
            </a:xfrm>
            <a:custGeom>
              <a:avLst/>
              <a:gdLst/>
              <a:ahLst/>
              <a:cxnLst/>
              <a:rect r="r" b="b" t="t" l="l"/>
              <a:pathLst>
                <a:path h="4201160" w="7112000">
                  <a:moveTo>
                    <a:pt x="0" y="350266"/>
                  </a:moveTo>
                  <a:cubicBezTo>
                    <a:pt x="0" y="156845"/>
                    <a:pt x="156845" y="0"/>
                    <a:pt x="350266" y="0"/>
                  </a:cubicBezTo>
                  <a:lnTo>
                    <a:pt x="6761734" y="0"/>
                  </a:lnTo>
                  <a:cubicBezTo>
                    <a:pt x="6955155" y="0"/>
                    <a:pt x="7112000" y="156845"/>
                    <a:pt x="7112000" y="350266"/>
                  </a:cubicBezTo>
                  <a:lnTo>
                    <a:pt x="7112000" y="3850894"/>
                  </a:lnTo>
                  <a:cubicBezTo>
                    <a:pt x="7112000" y="4044315"/>
                    <a:pt x="6955155" y="4201160"/>
                    <a:pt x="6761734" y="4201160"/>
                  </a:cubicBezTo>
                  <a:lnTo>
                    <a:pt x="350266" y="4201160"/>
                  </a:lnTo>
                  <a:cubicBezTo>
                    <a:pt x="156845" y="4201160"/>
                    <a:pt x="0" y="4044315"/>
                    <a:pt x="0" y="3850894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BEBEB"/>
              </a:solidFill>
              <a:prstDash val="solid"/>
              <a:miter/>
            </a:ln>
          </p:spPr>
        </p:sp>
      </p:grpSp>
      <p:sp>
        <p:nvSpPr>
          <p:cNvPr name="TextBox 5" id="5"/>
          <p:cNvSpPr txBox="true"/>
          <p:nvPr/>
        </p:nvSpPr>
        <p:spPr>
          <a:xfrm rot="0">
            <a:off x="1609725" y="6440805"/>
            <a:ext cx="4689538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“2 leite italac integral”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321529" y="7084695"/>
            <a:ext cx="228600" cy="419100"/>
            <a:chOff x="0" y="0"/>
            <a:chExt cx="304800" cy="558800"/>
          </a:xfrm>
        </p:grpSpPr>
        <p:sp>
          <p:nvSpPr>
            <p:cNvPr name="Freeform 7" id="7" descr="arrow-down"/>
            <p:cNvSpPr/>
            <p:nvPr/>
          </p:nvSpPr>
          <p:spPr>
            <a:xfrm flipH="false" flipV="false" rot="0">
              <a:off x="0" y="0"/>
              <a:ext cx="304800" cy="558800"/>
            </a:xfrm>
            <a:custGeom>
              <a:avLst/>
              <a:gdLst/>
              <a:ahLst/>
              <a:cxnLst/>
              <a:rect r="r" b="b" t="t" l="l"/>
              <a:pathLst>
                <a:path h="558800" w="304800">
                  <a:moveTo>
                    <a:pt x="0" y="0"/>
                  </a:moveTo>
                  <a:lnTo>
                    <a:pt x="304800" y="0"/>
                  </a:lnTo>
                  <a:lnTo>
                    <a:pt x="304800" y="558800"/>
                  </a:lnTo>
                  <a:lnTo>
                    <a:pt x="0" y="558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609725" y="7732395"/>
            <a:ext cx="1140304" cy="434340"/>
            <a:chOff x="0" y="0"/>
            <a:chExt cx="1520406" cy="5791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20444" cy="579120"/>
            </a:xfrm>
            <a:custGeom>
              <a:avLst/>
              <a:gdLst/>
              <a:ahLst/>
              <a:cxnLst/>
              <a:rect r="r" b="b" t="t" l="l"/>
              <a:pathLst>
                <a:path h="579120" w="1520444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1368044" y="0"/>
                  </a:lnTo>
                  <a:cubicBezTo>
                    <a:pt x="1452245" y="0"/>
                    <a:pt x="1520444" y="68199"/>
                    <a:pt x="1520444" y="152400"/>
                  </a:cubicBezTo>
                  <a:lnTo>
                    <a:pt x="1520444" y="426720"/>
                  </a:lnTo>
                  <a:cubicBezTo>
                    <a:pt x="1520444" y="510921"/>
                    <a:pt x="1452245" y="579120"/>
                    <a:pt x="1368044" y="579120"/>
                  </a:cubicBezTo>
                  <a:lnTo>
                    <a:pt x="152400" y="579120"/>
                  </a:lnTo>
                  <a:cubicBezTo>
                    <a:pt x="68199" y="579120"/>
                    <a:pt x="0" y="510921"/>
                    <a:pt x="0" y="426720"/>
                  </a:cubicBezTo>
                  <a:close/>
                </a:path>
              </a:pathLst>
            </a:custGeom>
            <a:solidFill>
              <a:srgbClr val="D61F2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1520406" cy="6362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Prefere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902429" y="7698105"/>
            <a:ext cx="2130171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marca Italac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609725" y="8395335"/>
            <a:ext cx="1140304" cy="434340"/>
            <a:chOff x="0" y="0"/>
            <a:chExt cx="1520406" cy="57912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20444" cy="579120"/>
            </a:xfrm>
            <a:custGeom>
              <a:avLst/>
              <a:gdLst/>
              <a:ahLst/>
              <a:cxnLst/>
              <a:rect r="r" b="b" t="t" l="l"/>
              <a:pathLst>
                <a:path h="579120" w="1520444">
                  <a:moveTo>
                    <a:pt x="0" y="152400"/>
                  </a:moveTo>
                  <a:cubicBezTo>
                    <a:pt x="0" y="68199"/>
                    <a:pt x="68199" y="0"/>
                    <a:pt x="152400" y="0"/>
                  </a:cubicBezTo>
                  <a:lnTo>
                    <a:pt x="1368044" y="0"/>
                  </a:lnTo>
                  <a:cubicBezTo>
                    <a:pt x="1452245" y="0"/>
                    <a:pt x="1520444" y="68199"/>
                    <a:pt x="1520444" y="152400"/>
                  </a:cubicBezTo>
                  <a:lnTo>
                    <a:pt x="1520444" y="426720"/>
                  </a:lnTo>
                  <a:cubicBezTo>
                    <a:pt x="1520444" y="510921"/>
                    <a:pt x="1452245" y="579120"/>
                    <a:pt x="1368044" y="579120"/>
                  </a:cubicBezTo>
                  <a:lnTo>
                    <a:pt x="152400" y="579120"/>
                  </a:lnTo>
                  <a:cubicBezTo>
                    <a:pt x="68199" y="579120"/>
                    <a:pt x="0" y="510921"/>
                    <a:pt x="0" y="426720"/>
                  </a:cubicBezTo>
                  <a:close/>
                </a:path>
              </a:pathLst>
            </a:custGeom>
            <a:solidFill>
              <a:srgbClr val="D61F2C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57150"/>
              <a:ext cx="1520406" cy="6362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Prefere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2902429" y="8361045"/>
            <a:ext cx="1328928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1F1F1F"/>
                </a:solidFill>
                <a:latin typeface="Montserrat"/>
                <a:ea typeface="Montserrat"/>
                <a:cs typeface="Montserrat"/>
                <a:sym typeface="Montserrat"/>
              </a:rPr>
              <a:t>integral</a:t>
            </a:r>
          </a:p>
        </p:txBody>
      </p: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12696825" y="585981"/>
            <a:ext cx="4496753" cy="9115039"/>
            <a:chOff x="0" y="0"/>
            <a:chExt cx="9398000" cy="1905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401955" y="301498"/>
              <a:ext cx="8566912" cy="18446877"/>
            </a:xfrm>
            <a:custGeom>
              <a:avLst/>
              <a:gdLst/>
              <a:ahLst/>
              <a:cxnLst/>
              <a:rect r="r" b="b" t="t" l="l"/>
              <a:pathLst>
                <a:path h="18446877" w="8566912">
                  <a:moveTo>
                    <a:pt x="7456551" y="18446877"/>
                  </a:moveTo>
                  <a:lnTo>
                    <a:pt x="1125220" y="18446877"/>
                  </a:lnTo>
                  <a:cubicBezTo>
                    <a:pt x="503809" y="18446877"/>
                    <a:pt x="0" y="17943067"/>
                    <a:pt x="0" y="17321657"/>
                  </a:cubicBezTo>
                  <a:lnTo>
                    <a:pt x="0" y="1085342"/>
                  </a:lnTo>
                  <a:cubicBezTo>
                    <a:pt x="0" y="485902"/>
                    <a:pt x="485902" y="0"/>
                    <a:pt x="1085342" y="0"/>
                  </a:cubicBezTo>
                  <a:lnTo>
                    <a:pt x="7504811" y="0"/>
                  </a:lnTo>
                  <a:cubicBezTo>
                    <a:pt x="8091424" y="0"/>
                    <a:pt x="8566912" y="475488"/>
                    <a:pt x="8566912" y="1062101"/>
                  </a:cubicBezTo>
                  <a:lnTo>
                    <a:pt x="8566912" y="17336515"/>
                  </a:lnTo>
                  <a:cubicBezTo>
                    <a:pt x="8566912" y="17949672"/>
                    <a:pt x="8069707" y="18446877"/>
                    <a:pt x="7456551" y="18446877"/>
                  </a:cubicBezTo>
                  <a:close/>
                </a:path>
              </a:pathLst>
            </a:custGeom>
            <a:blipFill>
              <a:blip r:embed="rId4"/>
              <a:stretch>
                <a:fillRect l="0" t="-7487" r="0" b="-7487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398000" cy="19050000"/>
            </a:xfrm>
            <a:custGeom>
              <a:avLst/>
              <a:gdLst/>
              <a:ahLst/>
              <a:cxnLst/>
              <a:rect r="r" b="b" t="t" l="l"/>
              <a:pathLst>
                <a:path h="19050000" w="9398000">
                  <a:moveTo>
                    <a:pt x="9398000" y="19050000"/>
                  </a:moveTo>
                  <a:lnTo>
                    <a:pt x="0" y="19050000"/>
                  </a:lnTo>
                  <a:lnTo>
                    <a:pt x="0" y="0"/>
                  </a:lnTo>
                  <a:lnTo>
                    <a:pt x="9398000" y="0"/>
                  </a:lnTo>
                  <a:lnTo>
                    <a:pt x="9398000" y="19050000"/>
                  </a:lnTo>
                  <a:close/>
                </a:path>
              </a:pathLst>
            </a:custGeom>
            <a:blipFill>
              <a:blip r:embed="rId5"/>
              <a:stretch>
                <a:fillRect l="-42" t="0" r="-42" b="0"/>
              </a:stretch>
            </a:blipFill>
          </p:spPr>
        </p:sp>
      </p:grp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7456646" y="585981"/>
            <a:ext cx="4496753" cy="9115039"/>
            <a:chOff x="0" y="0"/>
            <a:chExt cx="9398000" cy="1905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401955" y="301498"/>
              <a:ext cx="8566912" cy="18446877"/>
            </a:xfrm>
            <a:custGeom>
              <a:avLst/>
              <a:gdLst/>
              <a:ahLst/>
              <a:cxnLst/>
              <a:rect r="r" b="b" t="t" l="l"/>
              <a:pathLst>
                <a:path h="18446877" w="8566912">
                  <a:moveTo>
                    <a:pt x="7456551" y="18446877"/>
                  </a:moveTo>
                  <a:lnTo>
                    <a:pt x="1125220" y="18446877"/>
                  </a:lnTo>
                  <a:cubicBezTo>
                    <a:pt x="503809" y="18446877"/>
                    <a:pt x="0" y="17943067"/>
                    <a:pt x="0" y="17321657"/>
                  </a:cubicBezTo>
                  <a:lnTo>
                    <a:pt x="0" y="1085342"/>
                  </a:lnTo>
                  <a:cubicBezTo>
                    <a:pt x="0" y="485902"/>
                    <a:pt x="485902" y="0"/>
                    <a:pt x="1085342" y="0"/>
                  </a:cubicBezTo>
                  <a:lnTo>
                    <a:pt x="7504811" y="0"/>
                  </a:lnTo>
                  <a:cubicBezTo>
                    <a:pt x="8091424" y="0"/>
                    <a:pt x="8566912" y="475488"/>
                    <a:pt x="8566912" y="1062101"/>
                  </a:cubicBezTo>
                  <a:lnTo>
                    <a:pt x="8566912" y="17336515"/>
                  </a:lnTo>
                  <a:cubicBezTo>
                    <a:pt x="8566912" y="17949672"/>
                    <a:pt x="8069707" y="18446877"/>
                    <a:pt x="7456551" y="18446877"/>
                  </a:cubicBezTo>
                  <a:close/>
                </a:path>
              </a:pathLst>
            </a:custGeom>
            <a:blipFill>
              <a:blip r:embed="rId6"/>
              <a:stretch>
                <a:fillRect l="0" t="-1569" r="0" b="-1569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9398000" cy="19050000"/>
            </a:xfrm>
            <a:custGeom>
              <a:avLst/>
              <a:gdLst/>
              <a:ahLst/>
              <a:cxnLst/>
              <a:rect r="r" b="b" t="t" l="l"/>
              <a:pathLst>
                <a:path h="19050000" w="9398000">
                  <a:moveTo>
                    <a:pt x="9398000" y="19050000"/>
                  </a:moveTo>
                  <a:lnTo>
                    <a:pt x="0" y="19050000"/>
                  </a:lnTo>
                  <a:lnTo>
                    <a:pt x="0" y="0"/>
                  </a:lnTo>
                  <a:lnTo>
                    <a:pt x="9398000" y="0"/>
                  </a:lnTo>
                  <a:lnTo>
                    <a:pt x="9398000" y="19050000"/>
                  </a:lnTo>
                  <a:close/>
                </a:path>
              </a:pathLst>
            </a:custGeom>
            <a:blipFill>
              <a:blip r:embed="rId5"/>
              <a:stretch>
                <a:fillRect l="-42" t="0" r="-42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19200" y="1009650"/>
            <a:ext cx="549402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149">
                <a:solidFill>
                  <a:srgbClr val="D61F2C"/>
                </a:solidFill>
                <a:latin typeface="Arimo Bold"/>
                <a:ea typeface="Arimo Bold"/>
                <a:cs typeface="Arimo Bold"/>
                <a:sym typeface="Arimo Bold"/>
              </a:rPr>
              <a:t>A LISTA É A INTERFACE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19200" y="8244840"/>
            <a:ext cx="381000" cy="381000"/>
            <a:chOff x="0" y="0"/>
            <a:chExt cx="508000" cy="508000"/>
          </a:xfrm>
        </p:grpSpPr>
        <p:sp>
          <p:nvSpPr>
            <p:cNvPr name="Freeform 3" id="3" descr="Check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508000"/>
                  </a:lnTo>
                  <a:lnTo>
                    <a:pt x="0" y="50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219200" y="8831580"/>
            <a:ext cx="381000" cy="381000"/>
            <a:chOff x="0" y="0"/>
            <a:chExt cx="508000" cy="508000"/>
          </a:xfrm>
        </p:grpSpPr>
        <p:sp>
          <p:nvSpPr>
            <p:cNvPr name="Freeform 5" id="5" descr="Check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0" y="0"/>
                  </a:moveTo>
                  <a:lnTo>
                    <a:pt x="508000" y="0"/>
                  </a:lnTo>
                  <a:lnTo>
                    <a:pt x="508000" y="508000"/>
                  </a:lnTo>
                  <a:lnTo>
                    <a:pt x="0" y="508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418790" y="5029200"/>
            <a:ext cx="457200" cy="228600"/>
            <a:chOff x="0" y="0"/>
            <a:chExt cx="609600" cy="304800"/>
          </a:xfrm>
        </p:grpSpPr>
        <p:sp>
          <p:nvSpPr>
            <p:cNvPr name="Freeform 7" id="7" descr="arrow-right"/>
            <p:cNvSpPr/>
            <p:nvPr/>
          </p:nvSpPr>
          <p:spPr>
            <a:xfrm flipH="false" flipV="false" rot="0">
              <a:off x="0" y="0"/>
              <a:ext cx="609600" cy="304800"/>
            </a:xfrm>
            <a:custGeom>
              <a:avLst/>
              <a:gdLst/>
              <a:ahLst/>
              <a:cxnLst/>
              <a:rect r="r" b="b" t="t" l="l"/>
              <a:pathLst>
                <a:path h="3048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304800"/>
                  </a:lnTo>
                  <a:lnTo>
                    <a:pt x="0" y="30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7731538" y="700281"/>
            <a:ext cx="4496753" cy="9115039"/>
            <a:chOff x="0" y="0"/>
            <a:chExt cx="9398000" cy="19050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01955" y="301498"/>
              <a:ext cx="8566912" cy="18446877"/>
            </a:xfrm>
            <a:custGeom>
              <a:avLst/>
              <a:gdLst/>
              <a:ahLst/>
              <a:cxnLst/>
              <a:rect r="r" b="b" t="t" l="l"/>
              <a:pathLst>
                <a:path h="18446877" w="8566912">
                  <a:moveTo>
                    <a:pt x="7456551" y="18446877"/>
                  </a:moveTo>
                  <a:lnTo>
                    <a:pt x="1125220" y="18446877"/>
                  </a:lnTo>
                  <a:cubicBezTo>
                    <a:pt x="503809" y="18446877"/>
                    <a:pt x="0" y="17943067"/>
                    <a:pt x="0" y="17321657"/>
                  </a:cubicBezTo>
                  <a:lnTo>
                    <a:pt x="0" y="1085342"/>
                  </a:lnTo>
                  <a:cubicBezTo>
                    <a:pt x="0" y="485902"/>
                    <a:pt x="485902" y="0"/>
                    <a:pt x="1085342" y="0"/>
                  </a:cubicBezTo>
                  <a:lnTo>
                    <a:pt x="7504811" y="0"/>
                  </a:lnTo>
                  <a:cubicBezTo>
                    <a:pt x="8091424" y="0"/>
                    <a:pt x="8566912" y="475488"/>
                    <a:pt x="8566912" y="1062101"/>
                  </a:cubicBezTo>
                  <a:lnTo>
                    <a:pt x="8566912" y="17336515"/>
                  </a:lnTo>
                  <a:cubicBezTo>
                    <a:pt x="8566912" y="17949672"/>
                    <a:pt x="8069707" y="18446877"/>
                    <a:pt x="7456551" y="18446877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-20625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398000" cy="19050000"/>
            </a:xfrm>
            <a:custGeom>
              <a:avLst/>
              <a:gdLst/>
              <a:ahLst/>
              <a:cxnLst/>
              <a:rect r="r" b="b" t="t" l="l"/>
              <a:pathLst>
                <a:path h="19050000" w="9398000">
                  <a:moveTo>
                    <a:pt x="9398000" y="19050000"/>
                  </a:moveTo>
                  <a:lnTo>
                    <a:pt x="0" y="19050000"/>
                  </a:lnTo>
                  <a:lnTo>
                    <a:pt x="0" y="0"/>
                  </a:lnTo>
                  <a:lnTo>
                    <a:pt x="9398000" y="0"/>
                  </a:lnTo>
                  <a:lnTo>
                    <a:pt x="9398000" y="19050000"/>
                  </a:lnTo>
                  <a:close/>
                </a:path>
              </a:pathLst>
            </a:custGeom>
            <a:blipFill>
              <a:blip r:embed="rId6"/>
              <a:stretch>
                <a:fillRect l="-42" t="0" r="-42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19200" y="1009650"/>
            <a:ext cx="6200394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149">
                <a:solidFill>
                  <a:srgbClr val="D61F2C"/>
                </a:solidFill>
                <a:latin typeface="Arimo Bold"/>
                <a:ea typeface="Arimo Bold"/>
                <a:cs typeface="Arimo Bold"/>
                <a:sym typeface="Arimo Bold"/>
              </a:rPr>
              <a:t>CASO 1 · PREÇO REAL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19200" y="1710690"/>
            <a:ext cx="6200394" cy="152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b="true" sz="5400" spc="-75">
                <a:solidFill>
                  <a:srgbClr val="1F1F1F"/>
                </a:solidFill>
                <a:latin typeface="Arimo Bold"/>
                <a:ea typeface="Arimo Bold"/>
                <a:cs typeface="Arimo Bold"/>
                <a:sym typeface="Arimo Bold"/>
              </a:rPr>
              <a:t>Um toque, e o preço real.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19200" y="6332220"/>
            <a:ext cx="6200394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50"/>
              </a:lnSpc>
            </a:pPr>
            <a:r>
              <a:rPr lang="en-US" b="true" sz="9000" spc="-150">
                <a:solidFill>
                  <a:srgbClr val="D61F2C"/>
                </a:solidFill>
                <a:latin typeface="Arimo Bold"/>
                <a:ea typeface="Arimo Bold"/>
                <a:cs typeface="Arimo Bold"/>
                <a:sym typeface="Arimo Bold"/>
              </a:rPr>
              <a:t>R$ 68,59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19200" y="7456170"/>
            <a:ext cx="6200394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A3121D"/>
                </a:solidFill>
                <a:latin typeface="Arimo Bold"/>
                <a:ea typeface="Arimo Bold"/>
                <a:cs typeface="Arimo Bold"/>
                <a:sym typeface="Arimo Bold"/>
              </a:rPr>
              <a:t>= o valor do Pix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90700" y="8199120"/>
            <a:ext cx="5428297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1F1F1F"/>
                </a:solidFill>
                <a:latin typeface="Arimo"/>
                <a:ea typeface="Arimo"/>
                <a:cs typeface="Arimo"/>
                <a:sym typeface="Arimo"/>
              </a:rPr>
              <a:t>Frete, taxa e cupom já incluídos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90700" y="8785860"/>
            <a:ext cx="5862828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1F1F1F"/>
                </a:solidFill>
                <a:latin typeface="Arimo"/>
                <a:ea typeface="Arimo"/>
                <a:cs typeface="Arimo"/>
                <a:sym typeface="Arimo"/>
              </a:rPr>
              <a:t>Melhor combinação de mercados</a:t>
            </a:r>
          </a:p>
        </p:txBody>
      </p:sp>
      <p:grpSp>
        <p:nvGrpSpPr>
          <p:cNvPr name="Group 17" id="17"/>
          <p:cNvGrpSpPr>
            <a:grpSpLocks noChangeAspect="true"/>
          </p:cNvGrpSpPr>
          <p:nvPr/>
        </p:nvGrpSpPr>
        <p:grpSpPr>
          <a:xfrm rot="0">
            <a:off x="13028390" y="700281"/>
            <a:ext cx="4496753" cy="9115039"/>
            <a:chOff x="0" y="0"/>
            <a:chExt cx="9398000" cy="19050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401955" y="301498"/>
              <a:ext cx="8566912" cy="18446877"/>
            </a:xfrm>
            <a:custGeom>
              <a:avLst/>
              <a:gdLst/>
              <a:ahLst/>
              <a:cxnLst/>
              <a:rect r="r" b="b" t="t" l="l"/>
              <a:pathLst>
                <a:path h="18446877" w="8566912">
                  <a:moveTo>
                    <a:pt x="7456551" y="18446877"/>
                  </a:moveTo>
                  <a:lnTo>
                    <a:pt x="1125220" y="18446877"/>
                  </a:lnTo>
                  <a:cubicBezTo>
                    <a:pt x="503809" y="18446877"/>
                    <a:pt x="0" y="17943067"/>
                    <a:pt x="0" y="17321657"/>
                  </a:cubicBezTo>
                  <a:lnTo>
                    <a:pt x="0" y="1085342"/>
                  </a:lnTo>
                  <a:cubicBezTo>
                    <a:pt x="0" y="485902"/>
                    <a:pt x="485902" y="0"/>
                    <a:pt x="1085342" y="0"/>
                  </a:cubicBezTo>
                  <a:lnTo>
                    <a:pt x="7504811" y="0"/>
                  </a:lnTo>
                  <a:cubicBezTo>
                    <a:pt x="8091424" y="0"/>
                    <a:pt x="8566912" y="475488"/>
                    <a:pt x="8566912" y="1062101"/>
                  </a:cubicBezTo>
                  <a:lnTo>
                    <a:pt x="8566912" y="17336515"/>
                  </a:lnTo>
                  <a:cubicBezTo>
                    <a:pt x="8566912" y="17949672"/>
                    <a:pt x="8069707" y="18446877"/>
                    <a:pt x="7456551" y="18446877"/>
                  </a:cubicBezTo>
                  <a:close/>
                </a:path>
              </a:pathLst>
            </a:custGeom>
            <a:blipFill>
              <a:blip r:embed="rId7"/>
              <a:stretch>
                <a:fillRect l="0" t="-495" r="0" b="-2706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398000" cy="19050000"/>
            </a:xfrm>
            <a:custGeom>
              <a:avLst/>
              <a:gdLst/>
              <a:ahLst/>
              <a:cxnLst/>
              <a:rect r="r" b="b" t="t" l="l"/>
              <a:pathLst>
                <a:path h="19050000" w="9398000">
                  <a:moveTo>
                    <a:pt x="9398000" y="19050000"/>
                  </a:moveTo>
                  <a:lnTo>
                    <a:pt x="0" y="19050000"/>
                  </a:lnTo>
                  <a:lnTo>
                    <a:pt x="0" y="0"/>
                  </a:lnTo>
                  <a:lnTo>
                    <a:pt x="9398000" y="0"/>
                  </a:lnTo>
                  <a:lnTo>
                    <a:pt x="9398000" y="19050000"/>
                  </a:lnTo>
                  <a:close/>
                </a:path>
              </a:pathLst>
            </a:custGeom>
            <a:blipFill>
              <a:blip r:embed="rId6"/>
              <a:stretch>
                <a:fillRect l="-42" t="0" r="-42" b="0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009650"/>
            <a:ext cx="5729478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149">
                <a:solidFill>
                  <a:srgbClr val="D61F2C"/>
                </a:solidFill>
                <a:latin typeface="Arimo Bold"/>
                <a:ea typeface="Arimo Bold"/>
                <a:cs typeface="Arimo Bold"/>
                <a:sym typeface="Arimo Bold"/>
              </a:rPr>
              <a:t>CASO 2 · SUBSTITUIÇÃO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710690"/>
            <a:ext cx="5729478" cy="3036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b="true" sz="5400" spc="-75">
                <a:solidFill>
                  <a:srgbClr val="1F1F1F"/>
                </a:solidFill>
                <a:latin typeface="Arimo Bold"/>
                <a:ea typeface="Arimo Bold"/>
                <a:cs typeface="Arimo Bold"/>
                <a:sym typeface="Arimo Bold"/>
              </a:rPr>
              <a:t>Faltou? Ele troca, e pergunta só quando importa.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19200" y="8519160"/>
            <a:ext cx="4055583" cy="701040"/>
            <a:chOff x="0" y="0"/>
            <a:chExt cx="5407444" cy="93472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07406" cy="934720"/>
            </a:xfrm>
            <a:custGeom>
              <a:avLst/>
              <a:gdLst/>
              <a:ahLst/>
              <a:cxnLst/>
              <a:rect r="r" b="b" t="t" l="l"/>
              <a:pathLst>
                <a:path h="934720" w="5407406">
                  <a:moveTo>
                    <a:pt x="0" y="254000"/>
                  </a:moveTo>
                  <a:cubicBezTo>
                    <a:pt x="0" y="113665"/>
                    <a:pt x="113665" y="0"/>
                    <a:pt x="254000" y="0"/>
                  </a:cubicBezTo>
                  <a:lnTo>
                    <a:pt x="5153406" y="0"/>
                  </a:lnTo>
                  <a:cubicBezTo>
                    <a:pt x="5293741" y="0"/>
                    <a:pt x="5407406" y="113665"/>
                    <a:pt x="5407406" y="254000"/>
                  </a:cubicBezTo>
                  <a:lnTo>
                    <a:pt x="5407406" y="680720"/>
                  </a:lnTo>
                  <a:cubicBezTo>
                    <a:pt x="5407406" y="821055"/>
                    <a:pt x="5293741" y="934720"/>
                    <a:pt x="5153406" y="934720"/>
                  </a:cubicBezTo>
                  <a:lnTo>
                    <a:pt x="254000" y="934720"/>
                  </a:lnTo>
                  <a:cubicBezTo>
                    <a:pt x="113665" y="934720"/>
                    <a:pt x="0" y="821055"/>
                    <a:pt x="0" y="680720"/>
                  </a:cubicBezTo>
                  <a:close/>
                </a:path>
              </a:pathLst>
            </a:custGeom>
            <a:solidFill>
              <a:srgbClr val="FDE8EA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5407444" cy="972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120"/>
                </a:lnSpc>
              </a:pPr>
              <a:r>
                <a:rPr lang="en-US" sz="2400" b="true">
                  <a:solidFill>
                    <a:srgbClr val="A3121D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Sua resposta vira regra.</a:t>
              </a:r>
            </a:p>
          </p:txBody>
        </p:sp>
      </p:grp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7626763" y="889700"/>
            <a:ext cx="4496753" cy="9115039"/>
            <a:chOff x="0" y="0"/>
            <a:chExt cx="9398000" cy="1905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401955" y="301498"/>
              <a:ext cx="8566912" cy="18446877"/>
            </a:xfrm>
            <a:custGeom>
              <a:avLst/>
              <a:gdLst/>
              <a:ahLst/>
              <a:cxnLst/>
              <a:rect r="r" b="b" t="t" l="l"/>
              <a:pathLst>
                <a:path h="18446877" w="8566912">
                  <a:moveTo>
                    <a:pt x="7456551" y="18446877"/>
                  </a:moveTo>
                  <a:lnTo>
                    <a:pt x="1125220" y="18446877"/>
                  </a:lnTo>
                  <a:cubicBezTo>
                    <a:pt x="503809" y="18446877"/>
                    <a:pt x="0" y="17943067"/>
                    <a:pt x="0" y="17321657"/>
                  </a:cubicBezTo>
                  <a:lnTo>
                    <a:pt x="0" y="1085342"/>
                  </a:lnTo>
                  <a:cubicBezTo>
                    <a:pt x="0" y="485902"/>
                    <a:pt x="485902" y="0"/>
                    <a:pt x="1085342" y="0"/>
                  </a:cubicBezTo>
                  <a:lnTo>
                    <a:pt x="7504811" y="0"/>
                  </a:lnTo>
                  <a:cubicBezTo>
                    <a:pt x="8091424" y="0"/>
                    <a:pt x="8566912" y="475488"/>
                    <a:pt x="8566912" y="1062101"/>
                  </a:cubicBezTo>
                  <a:lnTo>
                    <a:pt x="8566912" y="17336515"/>
                  </a:lnTo>
                  <a:cubicBezTo>
                    <a:pt x="8566912" y="17949672"/>
                    <a:pt x="8069707" y="18446877"/>
                    <a:pt x="7456551" y="18446877"/>
                  </a:cubicBezTo>
                  <a:close/>
                </a:path>
              </a:pathLst>
            </a:custGeom>
            <a:blipFill>
              <a:blip r:embed="rId3"/>
              <a:stretch>
                <a:fillRect l="0" t="-2422" r="0" b="-779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398000" cy="19050000"/>
            </a:xfrm>
            <a:custGeom>
              <a:avLst/>
              <a:gdLst/>
              <a:ahLst/>
              <a:cxnLst/>
              <a:rect r="r" b="b" t="t" l="l"/>
              <a:pathLst>
                <a:path h="19050000" w="9398000">
                  <a:moveTo>
                    <a:pt x="9398000" y="19050000"/>
                  </a:moveTo>
                  <a:lnTo>
                    <a:pt x="0" y="19050000"/>
                  </a:lnTo>
                  <a:lnTo>
                    <a:pt x="0" y="0"/>
                  </a:lnTo>
                  <a:lnTo>
                    <a:pt x="9398000" y="0"/>
                  </a:lnTo>
                  <a:lnTo>
                    <a:pt x="9398000" y="19050000"/>
                  </a:lnTo>
                  <a:close/>
                </a:path>
              </a:pathLst>
            </a:custGeom>
            <a:blipFill>
              <a:blip r:embed="rId4"/>
              <a:stretch>
                <a:fillRect l="-42" t="0" r="-42" b="0"/>
              </a:stretch>
            </a:blipFill>
          </p:spPr>
        </p:sp>
      </p:grpSp>
      <p:grpSp>
        <p:nvGrpSpPr>
          <p:cNvPr name="Group 10" id="10"/>
          <p:cNvGrpSpPr>
            <a:grpSpLocks noChangeAspect="true"/>
          </p:cNvGrpSpPr>
          <p:nvPr/>
        </p:nvGrpSpPr>
        <p:grpSpPr>
          <a:xfrm rot="0">
            <a:off x="12801600" y="889700"/>
            <a:ext cx="4496753" cy="9115039"/>
            <a:chOff x="0" y="0"/>
            <a:chExt cx="9398000" cy="1905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401955" y="301498"/>
              <a:ext cx="8566912" cy="18446877"/>
            </a:xfrm>
            <a:custGeom>
              <a:avLst/>
              <a:gdLst/>
              <a:ahLst/>
              <a:cxnLst/>
              <a:rect r="r" b="b" t="t" l="l"/>
              <a:pathLst>
                <a:path h="18446877" w="8566912">
                  <a:moveTo>
                    <a:pt x="7456551" y="18446877"/>
                  </a:moveTo>
                  <a:lnTo>
                    <a:pt x="1125220" y="18446877"/>
                  </a:lnTo>
                  <a:cubicBezTo>
                    <a:pt x="503809" y="18446877"/>
                    <a:pt x="0" y="17943067"/>
                    <a:pt x="0" y="17321657"/>
                  </a:cubicBezTo>
                  <a:lnTo>
                    <a:pt x="0" y="1085342"/>
                  </a:lnTo>
                  <a:cubicBezTo>
                    <a:pt x="0" y="485902"/>
                    <a:pt x="485902" y="0"/>
                    <a:pt x="1085342" y="0"/>
                  </a:cubicBezTo>
                  <a:lnTo>
                    <a:pt x="7504811" y="0"/>
                  </a:lnTo>
                  <a:cubicBezTo>
                    <a:pt x="8091424" y="0"/>
                    <a:pt x="8566912" y="475488"/>
                    <a:pt x="8566912" y="1062101"/>
                  </a:cubicBezTo>
                  <a:lnTo>
                    <a:pt x="8566912" y="17336515"/>
                  </a:lnTo>
                  <a:cubicBezTo>
                    <a:pt x="8566912" y="17949672"/>
                    <a:pt x="8069707" y="18446877"/>
                    <a:pt x="7456551" y="18446877"/>
                  </a:cubicBezTo>
                  <a:close/>
                </a:path>
              </a:pathLst>
            </a:custGeom>
            <a:blipFill>
              <a:blip r:embed="rId5"/>
              <a:stretch>
                <a:fillRect l="0" t="-1601" r="0" b="-1601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398000" cy="19050000"/>
            </a:xfrm>
            <a:custGeom>
              <a:avLst/>
              <a:gdLst/>
              <a:ahLst/>
              <a:cxnLst/>
              <a:rect r="r" b="b" t="t" l="l"/>
              <a:pathLst>
                <a:path h="19050000" w="9398000">
                  <a:moveTo>
                    <a:pt x="9398000" y="19050000"/>
                  </a:moveTo>
                  <a:lnTo>
                    <a:pt x="0" y="19050000"/>
                  </a:lnTo>
                  <a:lnTo>
                    <a:pt x="0" y="0"/>
                  </a:lnTo>
                  <a:lnTo>
                    <a:pt x="9398000" y="0"/>
                  </a:lnTo>
                  <a:lnTo>
                    <a:pt x="9398000" y="19050000"/>
                  </a:lnTo>
                  <a:close/>
                </a:path>
              </a:pathLst>
            </a:custGeom>
            <a:blipFill>
              <a:blip r:embed="rId4"/>
              <a:stretch>
                <a:fillRect l="-42" t="0" r="-42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009650"/>
            <a:ext cx="749541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149">
                <a:solidFill>
                  <a:srgbClr val="D61F2C"/>
                </a:solidFill>
                <a:latin typeface="Arimo Bold"/>
                <a:ea typeface="Arimo Bold"/>
                <a:cs typeface="Arimo Bold"/>
                <a:sym typeface="Arimo Bold"/>
              </a:rPr>
              <a:t>CASO 3 · CHAT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710690"/>
            <a:ext cx="7495413" cy="152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b="true" sz="5400" spc="-75">
                <a:solidFill>
                  <a:srgbClr val="1F1F1F"/>
                </a:solidFill>
                <a:latin typeface="Arimo Bold"/>
                <a:ea typeface="Arimo Bold"/>
                <a:cs typeface="Arimo Bold"/>
                <a:sym typeface="Arimo Bold"/>
              </a:rPr>
              <a:t>Pergunte, e ele consulta o iFood.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9200" y="8736330"/>
            <a:ext cx="7495413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6B6B6B"/>
                </a:solidFill>
                <a:latin typeface="Arimo"/>
                <a:ea typeface="Arimo"/>
                <a:cs typeface="Arimo"/>
                <a:sym typeface="Arimo"/>
              </a:rPr>
              <a:t>Mostra cada passo e o novo total.</a:t>
            </a:r>
          </a:p>
        </p:txBody>
      </p: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9210554" y="585981"/>
            <a:ext cx="6505657" cy="13187142"/>
            <a:chOff x="0" y="0"/>
            <a:chExt cx="9398000" cy="1905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401955" y="301498"/>
              <a:ext cx="8566912" cy="18446877"/>
            </a:xfrm>
            <a:custGeom>
              <a:avLst/>
              <a:gdLst/>
              <a:ahLst/>
              <a:cxnLst/>
              <a:rect r="r" b="b" t="t" l="l"/>
              <a:pathLst>
                <a:path h="18446877" w="8566912">
                  <a:moveTo>
                    <a:pt x="7456551" y="18446877"/>
                  </a:moveTo>
                  <a:lnTo>
                    <a:pt x="1125220" y="18446877"/>
                  </a:lnTo>
                  <a:cubicBezTo>
                    <a:pt x="503809" y="18446877"/>
                    <a:pt x="0" y="17943067"/>
                    <a:pt x="0" y="17321657"/>
                  </a:cubicBezTo>
                  <a:lnTo>
                    <a:pt x="0" y="1085342"/>
                  </a:lnTo>
                  <a:cubicBezTo>
                    <a:pt x="0" y="485902"/>
                    <a:pt x="485902" y="0"/>
                    <a:pt x="1085342" y="0"/>
                  </a:cubicBezTo>
                  <a:lnTo>
                    <a:pt x="7504811" y="0"/>
                  </a:lnTo>
                  <a:cubicBezTo>
                    <a:pt x="8091424" y="0"/>
                    <a:pt x="8566912" y="475488"/>
                    <a:pt x="8566912" y="1062101"/>
                  </a:cubicBezTo>
                  <a:lnTo>
                    <a:pt x="8566912" y="17336515"/>
                  </a:lnTo>
                  <a:cubicBezTo>
                    <a:pt x="8566912" y="17949672"/>
                    <a:pt x="8069707" y="18446877"/>
                    <a:pt x="7456551" y="18446877"/>
                  </a:cubicBezTo>
                  <a:close/>
                </a:path>
              </a:pathLst>
            </a:custGeom>
            <a:blipFill>
              <a:blip r:embed="rId3"/>
              <a:stretch>
                <a:fillRect l="0" t="-298" r="0" b="-2903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398000" cy="19050000"/>
            </a:xfrm>
            <a:custGeom>
              <a:avLst/>
              <a:gdLst/>
              <a:ahLst/>
              <a:cxnLst/>
              <a:rect r="r" b="b" t="t" l="l"/>
              <a:pathLst>
                <a:path h="19050000" w="9398000">
                  <a:moveTo>
                    <a:pt x="9398000" y="19050000"/>
                  </a:moveTo>
                  <a:lnTo>
                    <a:pt x="0" y="19050000"/>
                  </a:lnTo>
                  <a:lnTo>
                    <a:pt x="0" y="0"/>
                  </a:lnTo>
                  <a:lnTo>
                    <a:pt x="9398000" y="0"/>
                  </a:lnTo>
                  <a:lnTo>
                    <a:pt x="9398000" y="19050000"/>
                  </a:lnTo>
                  <a:close/>
                </a:path>
              </a:pathLst>
            </a:custGeom>
            <a:blipFill>
              <a:blip r:embed="rId4"/>
              <a:stretch>
                <a:fillRect l="-42" t="0" r="-42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009650"/>
            <a:ext cx="9565481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 spc="149">
                <a:solidFill>
                  <a:srgbClr val="D61F2C"/>
                </a:solidFill>
                <a:latin typeface="Arimo Bold"/>
                <a:ea typeface="Arimo Bold"/>
                <a:cs typeface="Arimo Bold"/>
                <a:sym typeface="Arimo Bold"/>
              </a:rPr>
              <a:t>CASO 4 · O APP AVISA VOCÊ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1710690"/>
            <a:ext cx="9565481" cy="1527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b="true" sz="5400" spc="-75">
                <a:solidFill>
                  <a:srgbClr val="1F1F1F"/>
                </a:solidFill>
                <a:latin typeface="Arimo Bold"/>
                <a:ea typeface="Arimo Bold"/>
                <a:cs typeface="Arimo Bold"/>
                <a:sym typeface="Arimo Bold"/>
              </a:rPr>
              <a:t>Promoção no que você sempre compra.</a:t>
            </a:r>
          </a:p>
        </p:txBody>
      </p: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0143233" y="1691640"/>
            <a:ext cx="6505657" cy="13187142"/>
            <a:chOff x="0" y="0"/>
            <a:chExt cx="9398000" cy="190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401955" y="301498"/>
              <a:ext cx="8566912" cy="18446877"/>
            </a:xfrm>
            <a:custGeom>
              <a:avLst/>
              <a:gdLst/>
              <a:ahLst/>
              <a:cxnLst/>
              <a:rect r="r" b="b" t="t" l="l"/>
              <a:pathLst>
                <a:path h="18446877" w="8566912">
                  <a:moveTo>
                    <a:pt x="7456551" y="18446877"/>
                  </a:moveTo>
                  <a:lnTo>
                    <a:pt x="1125220" y="18446877"/>
                  </a:lnTo>
                  <a:cubicBezTo>
                    <a:pt x="503809" y="18446877"/>
                    <a:pt x="0" y="17943067"/>
                    <a:pt x="0" y="17321657"/>
                  </a:cubicBezTo>
                  <a:lnTo>
                    <a:pt x="0" y="1085342"/>
                  </a:lnTo>
                  <a:cubicBezTo>
                    <a:pt x="0" y="485902"/>
                    <a:pt x="485902" y="0"/>
                    <a:pt x="1085342" y="0"/>
                  </a:cubicBezTo>
                  <a:lnTo>
                    <a:pt x="7504811" y="0"/>
                  </a:lnTo>
                  <a:cubicBezTo>
                    <a:pt x="8091424" y="0"/>
                    <a:pt x="8566912" y="475488"/>
                    <a:pt x="8566912" y="1062101"/>
                  </a:cubicBezTo>
                  <a:lnTo>
                    <a:pt x="8566912" y="17336515"/>
                  </a:lnTo>
                  <a:cubicBezTo>
                    <a:pt x="8566912" y="17949672"/>
                    <a:pt x="8069707" y="18446877"/>
                    <a:pt x="7456551" y="18446877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-3202"/>
              </a:stretch>
            </a:blip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398000" cy="19050000"/>
            </a:xfrm>
            <a:custGeom>
              <a:avLst/>
              <a:gdLst/>
              <a:ahLst/>
              <a:cxnLst/>
              <a:rect r="r" b="b" t="t" l="l"/>
              <a:pathLst>
                <a:path h="19050000" w="9398000">
                  <a:moveTo>
                    <a:pt x="9398000" y="19050000"/>
                  </a:moveTo>
                  <a:lnTo>
                    <a:pt x="0" y="19050000"/>
                  </a:lnTo>
                  <a:lnTo>
                    <a:pt x="0" y="0"/>
                  </a:lnTo>
                  <a:lnTo>
                    <a:pt x="9398000" y="0"/>
                  </a:lnTo>
                  <a:lnTo>
                    <a:pt x="9398000" y="19050000"/>
                  </a:lnTo>
                  <a:close/>
                </a:path>
              </a:pathLst>
            </a:custGeom>
            <a:blipFill>
              <a:blip r:embed="rId4"/>
              <a:stretch>
                <a:fillRect l="-42" t="0" r="-42" b="0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41785" y="784374"/>
            <a:ext cx="6639116" cy="351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05"/>
              </a:lnSpc>
            </a:pPr>
            <a:r>
              <a:rPr lang="en-US" sz="1921" b="true">
                <a:solidFill>
                  <a:srgbClr val="C8353A"/>
                </a:solidFill>
                <a:latin typeface="Arial Bold"/>
                <a:ea typeface="Arial Bold"/>
                <a:cs typeface="Arial Bold"/>
                <a:sym typeface="Arial Bold"/>
              </a:rPr>
              <a:t>DECISÕES TÉCNICAS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41785" y="1416625"/>
            <a:ext cx="17261710" cy="1799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5"/>
              </a:lnSpc>
            </a:pPr>
            <a:r>
              <a:rPr lang="en-US" sz="5404" b="true">
                <a:solidFill>
                  <a:srgbClr val="1F1F1F"/>
                </a:solidFill>
                <a:latin typeface="Arial Bold"/>
                <a:ea typeface="Arial Bold"/>
                <a:cs typeface="Arial Bold"/>
                <a:sym typeface="Arial Bold"/>
              </a:rPr>
              <a:t>O LLM entende, o otimizador decide, o iFood dá o preço.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185068" y="3425495"/>
            <a:ext cx="5998083" cy="1173661"/>
            <a:chOff x="0" y="0"/>
            <a:chExt cx="7997444" cy="156488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997444" cy="1564767"/>
            </a:xfrm>
            <a:custGeom>
              <a:avLst/>
              <a:gdLst/>
              <a:ahLst/>
              <a:cxnLst/>
              <a:rect r="r" b="b" t="t" l="l"/>
              <a:pathLst>
                <a:path h="1564767" w="7997444">
                  <a:moveTo>
                    <a:pt x="0" y="172085"/>
                  </a:moveTo>
                  <a:cubicBezTo>
                    <a:pt x="0" y="77089"/>
                    <a:pt x="77089" y="0"/>
                    <a:pt x="172085" y="0"/>
                  </a:cubicBezTo>
                  <a:lnTo>
                    <a:pt x="7825359" y="0"/>
                  </a:lnTo>
                  <a:cubicBezTo>
                    <a:pt x="7920482" y="0"/>
                    <a:pt x="7997444" y="77089"/>
                    <a:pt x="7997444" y="172085"/>
                  </a:cubicBezTo>
                  <a:lnTo>
                    <a:pt x="7997444" y="1392682"/>
                  </a:lnTo>
                  <a:cubicBezTo>
                    <a:pt x="7997444" y="1487805"/>
                    <a:pt x="7920355" y="1564767"/>
                    <a:pt x="7825359" y="1564767"/>
                  </a:cubicBezTo>
                  <a:lnTo>
                    <a:pt x="172085" y="1564767"/>
                  </a:lnTo>
                  <a:cubicBezTo>
                    <a:pt x="77089" y="1564894"/>
                    <a:pt x="0" y="1487805"/>
                    <a:pt x="0" y="1392682"/>
                  </a:cubicBezTo>
                  <a:close/>
                </a:path>
              </a:pathLst>
            </a:custGeom>
            <a:solidFill>
              <a:srgbClr val="FFFFFF"/>
            </a:solidFill>
            <a:ln w="22878" cap="sq">
              <a:solidFill>
                <a:srgbClr val="EAD1D2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7997444" cy="1583931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828"/>
                </a:lnSpc>
              </a:pPr>
              <a:r>
                <a:rPr lang="en-US" sz="2356" b="true">
                  <a:solidFill>
                    <a:srgbClr val="1F1F1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Memória</a:t>
              </a:r>
            </a:p>
            <a:p>
              <a:pPr algn="l">
                <a:lnSpc>
                  <a:spcPts val="1783"/>
                </a:lnSpc>
              </a:pPr>
              <a:r>
                <a:rPr lang="en-US" sz="1486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Suas preferências: as que você disse e as aprendidas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41785" y="5406542"/>
            <a:ext cx="2102387" cy="1549128"/>
            <a:chOff x="0" y="0"/>
            <a:chExt cx="2803182" cy="206550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803144" cy="2065529"/>
            </a:xfrm>
            <a:custGeom>
              <a:avLst/>
              <a:gdLst/>
              <a:ahLst/>
              <a:cxnLst/>
              <a:rect r="r" b="b" t="t" l="l"/>
              <a:pathLst>
                <a:path h="2065529" w="2803144">
                  <a:moveTo>
                    <a:pt x="0" y="227203"/>
                  </a:moveTo>
                  <a:cubicBezTo>
                    <a:pt x="0" y="101727"/>
                    <a:pt x="101727" y="0"/>
                    <a:pt x="227203" y="0"/>
                  </a:cubicBezTo>
                  <a:lnTo>
                    <a:pt x="2575941" y="0"/>
                  </a:lnTo>
                  <a:cubicBezTo>
                    <a:pt x="2701417" y="0"/>
                    <a:pt x="2803144" y="101727"/>
                    <a:pt x="2803144" y="227203"/>
                  </a:cubicBezTo>
                  <a:lnTo>
                    <a:pt x="2803144" y="1838326"/>
                  </a:lnTo>
                  <a:cubicBezTo>
                    <a:pt x="2803144" y="1963802"/>
                    <a:pt x="2701417" y="2065529"/>
                    <a:pt x="2575941" y="2065529"/>
                  </a:cubicBezTo>
                  <a:lnTo>
                    <a:pt x="227203" y="2065529"/>
                  </a:lnTo>
                  <a:cubicBezTo>
                    <a:pt x="101727" y="2065529"/>
                    <a:pt x="0" y="1963802"/>
                    <a:pt x="0" y="183832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9050"/>
              <a:ext cx="2803182" cy="208455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548"/>
                </a:lnSpc>
              </a:pPr>
              <a:r>
                <a:rPr lang="en-US" sz="2957" b="true">
                  <a:solidFill>
                    <a:srgbClr val="1F1F1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Lista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3319558" y="5406542"/>
            <a:ext cx="2522868" cy="1549128"/>
            <a:chOff x="0" y="0"/>
            <a:chExt cx="3363824" cy="206550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363849" cy="2065529"/>
            </a:xfrm>
            <a:custGeom>
              <a:avLst/>
              <a:gdLst/>
              <a:ahLst/>
              <a:cxnLst/>
              <a:rect r="r" b="b" t="t" l="l"/>
              <a:pathLst>
                <a:path h="2065529" w="3363849">
                  <a:moveTo>
                    <a:pt x="0" y="227203"/>
                  </a:moveTo>
                  <a:cubicBezTo>
                    <a:pt x="0" y="101727"/>
                    <a:pt x="101727" y="0"/>
                    <a:pt x="227203" y="0"/>
                  </a:cubicBezTo>
                  <a:lnTo>
                    <a:pt x="3136646" y="0"/>
                  </a:lnTo>
                  <a:cubicBezTo>
                    <a:pt x="3262122" y="0"/>
                    <a:pt x="3363849" y="101727"/>
                    <a:pt x="3363849" y="227203"/>
                  </a:cubicBezTo>
                  <a:lnTo>
                    <a:pt x="3363849" y="1838326"/>
                  </a:lnTo>
                  <a:cubicBezTo>
                    <a:pt x="3363849" y="1963802"/>
                    <a:pt x="3262122" y="2065529"/>
                    <a:pt x="3136646" y="2065529"/>
                  </a:cubicBezTo>
                  <a:lnTo>
                    <a:pt x="227203" y="2065529"/>
                  </a:lnTo>
                  <a:cubicBezTo>
                    <a:pt x="101727" y="2065529"/>
                    <a:pt x="0" y="1963802"/>
                    <a:pt x="0" y="1838326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9050"/>
              <a:ext cx="3363824" cy="2084554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828"/>
                </a:lnSpc>
              </a:pPr>
              <a:r>
                <a:rPr lang="en-US" sz="2356" b="true">
                  <a:solidFill>
                    <a:srgbClr val="1F1F1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Busca</a:t>
              </a:r>
            </a:p>
            <a:p>
              <a:pPr algn="l">
                <a:lnSpc>
                  <a:spcPts val="1783"/>
                </a:lnSpc>
              </a:pPr>
              <a:r>
                <a:rPr lang="en-US" sz="1486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o LLM planeja até 3 buscas por item, parametrizada pelas preferências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417812" y="5406542"/>
            <a:ext cx="2522868" cy="1549127"/>
            <a:chOff x="0" y="0"/>
            <a:chExt cx="3363824" cy="206550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363849" cy="2065528"/>
            </a:xfrm>
            <a:custGeom>
              <a:avLst/>
              <a:gdLst/>
              <a:ahLst/>
              <a:cxnLst/>
              <a:rect r="r" b="b" t="t" l="l"/>
              <a:pathLst>
                <a:path h="2065528" w="3363849">
                  <a:moveTo>
                    <a:pt x="0" y="227203"/>
                  </a:moveTo>
                  <a:cubicBezTo>
                    <a:pt x="0" y="101727"/>
                    <a:pt x="101727" y="0"/>
                    <a:pt x="227203" y="0"/>
                  </a:cubicBezTo>
                  <a:lnTo>
                    <a:pt x="3136646" y="0"/>
                  </a:lnTo>
                  <a:cubicBezTo>
                    <a:pt x="3262122" y="0"/>
                    <a:pt x="3363849" y="101727"/>
                    <a:pt x="3363849" y="227203"/>
                  </a:cubicBezTo>
                  <a:lnTo>
                    <a:pt x="3363849" y="1838325"/>
                  </a:lnTo>
                  <a:cubicBezTo>
                    <a:pt x="3363849" y="1963801"/>
                    <a:pt x="3262122" y="2065528"/>
                    <a:pt x="3136646" y="2065528"/>
                  </a:cubicBezTo>
                  <a:lnTo>
                    <a:pt x="227203" y="2065528"/>
                  </a:lnTo>
                  <a:cubicBezTo>
                    <a:pt x="101727" y="2065528"/>
                    <a:pt x="0" y="1963801"/>
                    <a:pt x="0" y="183832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3363824" cy="2084553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828"/>
                </a:lnSpc>
              </a:pPr>
              <a:r>
                <a:rPr lang="en-US" sz="2356" b="true">
                  <a:solidFill>
                    <a:srgbClr val="1F1F1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Juiz</a:t>
              </a:r>
            </a:p>
            <a:p>
              <a:pPr algn="l">
                <a:lnSpc>
                  <a:spcPts val="1783"/>
                </a:lnSpc>
              </a:pPr>
              <a:r>
                <a:rPr lang="en-US" sz="1486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exato, substituto ou não serve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516075" y="5406542"/>
            <a:ext cx="2522868" cy="1549127"/>
            <a:chOff x="0" y="0"/>
            <a:chExt cx="3363824" cy="206550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363849" cy="2065528"/>
            </a:xfrm>
            <a:custGeom>
              <a:avLst/>
              <a:gdLst/>
              <a:ahLst/>
              <a:cxnLst/>
              <a:rect r="r" b="b" t="t" l="l"/>
              <a:pathLst>
                <a:path h="2065528" w="3363849">
                  <a:moveTo>
                    <a:pt x="0" y="227203"/>
                  </a:moveTo>
                  <a:cubicBezTo>
                    <a:pt x="0" y="101727"/>
                    <a:pt x="101727" y="0"/>
                    <a:pt x="227203" y="0"/>
                  </a:cubicBezTo>
                  <a:lnTo>
                    <a:pt x="3136646" y="0"/>
                  </a:lnTo>
                  <a:cubicBezTo>
                    <a:pt x="3262122" y="0"/>
                    <a:pt x="3363849" y="101727"/>
                    <a:pt x="3363849" y="227203"/>
                  </a:cubicBezTo>
                  <a:lnTo>
                    <a:pt x="3363849" y="1838325"/>
                  </a:lnTo>
                  <a:cubicBezTo>
                    <a:pt x="3363849" y="1963801"/>
                    <a:pt x="3262122" y="2065528"/>
                    <a:pt x="3136646" y="2065528"/>
                  </a:cubicBezTo>
                  <a:lnTo>
                    <a:pt x="227203" y="2065528"/>
                  </a:lnTo>
                  <a:cubicBezTo>
                    <a:pt x="101727" y="2065528"/>
                    <a:pt x="0" y="1963801"/>
                    <a:pt x="0" y="183832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9050"/>
              <a:ext cx="3363824" cy="2084553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828"/>
                </a:lnSpc>
              </a:pPr>
              <a:r>
                <a:rPr lang="en-US" sz="2356" b="true">
                  <a:solidFill>
                    <a:srgbClr val="1F1F1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Otimizador</a:t>
              </a:r>
            </a:p>
            <a:p>
              <a:pPr algn="l">
                <a:lnSpc>
                  <a:spcPts val="1783"/>
                </a:lnSpc>
              </a:pPr>
              <a:r>
                <a:rPr lang="en-US" sz="1486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escolhe produtos e mercados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614329" y="5406542"/>
            <a:ext cx="2522868" cy="1549127"/>
            <a:chOff x="0" y="0"/>
            <a:chExt cx="3363824" cy="206550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363849" cy="2065528"/>
            </a:xfrm>
            <a:custGeom>
              <a:avLst/>
              <a:gdLst/>
              <a:ahLst/>
              <a:cxnLst/>
              <a:rect r="r" b="b" t="t" l="l"/>
              <a:pathLst>
                <a:path h="2065528" w="3363849">
                  <a:moveTo>
                    <a:pt x="0" y="227203"/>
                  </a:moveTo>
                  <a:cubicBezTo>
                    <a:pt x="0" y="101727"/>
                    <a:pt x="101727" y="0"/>
                    <a:pt x="227203" y="0"/>
                  </a:cubicBezTo>
                  <a:lnTo>
                    <a:pt x="3136646" y="0"/>
                  </a:lnTo>
                  <a:cubicBezTo>
                    <a:pt x="3262122" y="0"/>
                    <a:pt x="3363849" y="101727"/>
                    <a:pt x="3363849" y="227203"/>
                  </a:cubicBezTo>
                  <a:lnTo>
                    <a:pt x="3363849" y="1838325"/>
                  </a:lnTo>
                  <a:cubicBezTo>
                    <a:pt x="3363849" y="1963801"/>
                    <a:pt x="3262122" y="2065528"/>
                    <a:pt x="3136646" y="2065528"/>
                  </a:cubicBezTo>
                  <a:lnTo>
                    <a:pt x="227203" y="2065528"/>
                  </a:lnTo>
                  <a:cubicBezTo>
                    <a:pt x="101727" y="2065528"/>
                    <a:pt x="0" y="1963801"/>
                    <a:pt x="0" y="1838325"/>
                  </a:cubicBezTo>
                  <a:close/>
                </a:path>
              </a:pathLst>
            </a:custGeom>
            <a:solidFill>
              <a:srgbClr val="C8353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19050"/>
              <a:ext cx="3363824" cy="2084553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828"/>
                </a:lnSpc>
              </a:pPr>
              <a:r>
                <a:rPr lang="en-US" sz="2356" b="true">
                  <a:solidFill>
                    <a:srgbClr val="FFFFF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Carrinho real</a:t>
              </a:r>
            </a:p>
            <a:p>
              <a:pPr algn="l">
                <a:lnSpc>
                  <a:spcPts val="1783"/>
                </a:lnSpc>
              </a:pPr>
              <a:r>
                <a:rPr lang="en-US" sz="1486">
                  <a:solidFill>
                    <a:srgbClr val="FDE3E4"/>
                  </a:solidFill>
                  <a:latin typeface="Arial"/>
                  <a:ea typeface="Arial"/>
                  <a:cs typeface="Arial"/>
                  <a:sym typeface="Arial"/>
                </a:rPr>
                <a:t>frete, taxa, cupom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5712583" y="5406542"/>
            <a:ext cx="2102387" cy="1549127"/>
            <a:chOff x="0" y="0"/>
            <a:chExt cx="2803182" cy="206550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803144" cy="2065528"/>
            </a:xfrm>
            <a:custGeom>
              <a:avLst/>
              <a:gdLst/>
              <a:ahLst/>
              <a:cxnLst/>
              <a:rect r="r" b="b" t="t" l="l"/>
              <a:pathLst>
                <a:path h="2065528" w="2803144">
                  <a:moveTo>
                    <a:pt x="0" y="227203"/>
                  </a:moveTo>
                  <a:cubicBezTo>
                    <a:pt x="0" y="101727"/>
                    <a:pt x="101727" y="0"/>
                    <a:pt x="227203" y="0"/>
                  </a:cubicBezTo>
                  <a:lnTo>
                    <a:pt x="2575941" y="0"/>
                  </a:lnTo>
                  <a:cubicBezTo>
                    <a:pt x="2701417" y="0"/>
                    <a:pt x="2803144" y="101727"/>
                    <a:pt x="2803144" y="227203"/>
                  </a:cubicBezTo>
                  <a:lnTo>
                    <a:pt x="2803144" y="1838325"/>
                  </a:lnTo>
                  <a:cubicBezTo>
                    <a:pt x="2803144" y="1963801"/>
                    <a:pt x="2701417" y="2065528"/>
                    <a:pt x="2575941" y="2065528"/>
                  </a:cubicBezTo>
                  <a:lnTo>
                    <a:pt x="227203" y="2065528"/>
                  </a:lnTo>
                  <a:cubicBezTo>
                    <a:pt x="101727" y="2065528"/>
                    <a:pt x="0" y="1963801"/>
                    <a:pt x="0" y="1838325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2803182" cy="2084553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2828"/>
                </a:lnSpc>
              </a:pPr>
              <a:r>
                <a:rPr lang="en-US" sz="2356" b="true">
                  <a:solidFill>
                    <a:srgbClr val="1F1F1F"/>
                  </a:solidFill>
                  <a:latin typeface="Arial Bold"/>
                  <a:ea typeface="Arial Bold"/>
                  <a:cs typeface="Arial Bold"/>
                  <a:sym typeface="Arial Bold"/>
                </a:rPr>
                <a:t>Ajustes</a:t>
              </a:r>
            </a:p>
            <a:p>
              <a:pPr algn="l">
                <a:lnSpc>
                  <a:spcPts val="1783"/>
                </a:lnSpc>
              </a:pPr>
              <a:r>
                <a:rPr lang="en-US" sz="1486">
                  <a:solidFill>
                    <a:srgbClr val="6B6B6B"/>
                  </a:solidFill>
                  <a:latin typeface="Arial"/>
                  <a:ea typeface="Arial"/>
                  <a:cs typeface="Arial"/>
                  <a:sym typeface="Arial"/>
                </a:rPr>
                <a:t>cartões e agente no chat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4951676" y="5273764"/>
            <a:ext cx="735835" cy="265567"/>
            <a:chOff x="0" y="0"/>
            <a:chExt cx="981113" cy="35408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81075" cy="354076"/>
            </a:xfrm>
            <a:custGeom>
              <a:avLst/>
              <a:gdLst/>
              <a:ahLst/>
              <a:cxnLst/>
              <a:rect r="r" b="b" t="t" l="l"/>
              <a:pathLst>
                <a:path h="354076" w="981075">
                  <a:moveTo>
                    <a:pt x="0" y="177038"/>
                  </a:moveTo>
                  <a:cubicBezTo>
                    <a:pt x="0" y="79248"/>
                    <a:pt x="79248" y="0"/>
                    <a:pt x="177038" y="0"/>
                  </a:cubicBezTo>
                  <a:lnTo>
                    <a:pt x="804037" y="0"/>
                  </a:lnTo>
                  <a:cubicBezTo>
                    <a:pt x="901827" y="0"/>
                    <a:pt x="981075" y="79248"/>
                    <a:pt x="981075" y="177038"/>
                  </a:cubicBezTo>
                  <a:cubicBezTo>
                    <a:pt x="981075" y="274828"/>
                    <a:pt x="901827" y="354076"/>
                    <a:pt x="804037" y="354076"/>
                  </a:cubicBezTo>
                  <a:lnTo>
                    <a:pt x="177038" y="354076"/>
                  </a:lnTo>
                  <a:cubicBezTo>
                    <a:pt x="79248" y="354076"/>
                    <a:pt x="0" y="274828"/>
                    <a:pt x="0" y="177038"/>
                  </a:cubicBezTo>
                  <a:close/>
                </a:path>
              </a:pathLst>
            </a:custGeom>
            <a:solidFill>
              <a:srgbClr val="FDE3E4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981113" cy="363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51"/>
                </a:lnSpc>
              </a:pPr>
              <a:r>
                <a:rPr lang="en-US" sz="1125" b="true">
                  <a:solidFill>
                    <a:srgbClr val="A3121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iFOOD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8282302" y="5273764"/>
            <a:ext cx="503463" cy="265567"/>
            <a:chOff x="0" y="0"/>
            <a:chExt cx="671284" cy="35408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71322" cy="354076"/>
            </a:xfrm>
            <a:custGeom>
              <a:avLst/>
              <a:gdLst/>
              <a:ahLst/>
              <a:cxnLst/>
              <a:rect r="r" b="b" t="t" l="l"/>
              <a:pathLst>
                <a:path h="354076" w="671322">
                  <a:moveTo>
                    <a:pt x="0" y="177038"/>
                  </a:moveTo>
                  <a:cubicBezTo>
                    <a:pt x="0" y="79248"/>
                    <a:pt x="79248" y="0"/>
                    <a:pt x="177038" y="0"/>
                  </a:cubicBezTo>
                  <a:lnTo>
                    <a:pt x="494284" y="0"/>
                  </a:lnTo>
                  <a:cubicBezTo>
                    <a:pt x="592074" y="0"/>
                    <a:pt x="671322" y="79248"/>
                    <a:pt x="671322" y="177038"/>
                  </a:cubicBezTo>
                  <a:cubicBezTo>
                    <a:pt x="671322" y="274828"/>
                    <a:pt x="592074" y="354076"/>
                    <a:pt x="494284" y="354076"/>
                  </a:cubicBezTo>
                  <a:lnTo>
                    <a:pt x="177038" y="354076"/>
                  </a:lnTo>
                  <a:cubicBezTo>
                    <a:pt x="79248" y="354076"/>
                    <a:pt x="0" y="274828"/>
                    <a:pt x="0" y="177038"/>
                  </a:cubicBezTo>
                  <a:close/>
                </a:path>
              </a:pathLst>
            </a:custGeom>
            <a:solidFill>
              <a:srgbClr val="EDE4FB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9525"/>
              <a:ext cx="671284" cy="363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51"/>
                </a:lnSpc>
              </a:pPr>
              <a:r>
                <a:rPr lang="en-US" sz="1125" b="true">
                  <a:solidFill>
                    <a:srgbClr val="5B21B6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LLM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4246447" y="5273764"/>
            <a:ext cx="735835" cy="265567"/>
            <a:chOff x="0" y="0"/>
            <a:chExt cx="981113" cy="354089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81075" cy="354076"/>
            </a:xfrm>
            <a:custGeom>
              <a:avLst/>
              <a:gdLst/>
              <a:ahLst/>
              <a:cxnLst/>
              <a:rect r="r" b="b" t="t" l="l"/>
              <a:pathLst>
                <a:path h="354076" w="981075">
                  <a:moveTo>
                    <a:pt x="0" y="177038"/>
                  </a:moveTo>
                  <a:cubicBezTo>
                    <a:pt x="0" y="79248"/>
                    <a:pt x="79248" y="0"/>
                    <a:pt x="177038" y="0"/>
                  </a:cubicBezTo>
                  <a:lnTo>
                    <a:pt x="804037" y="0"/>
                  </a:lnTo>
                  <a:cubicBezTo>
                    <a:pt x="901827" y="0"/>
                    <a:pt x="981075" y="79248"/>
                    <a:pt x="981075" y="177038"/>
                  </a:cubicBezTo>
                  <a:cubicBezTo>
                    <a:pt x="981075" y="274828"/>
                    <a:pt x="901827" y="354076"/>
                    <a:pt x="804037" y="354076"/>
                  </a:cubicBezTo>
                  <a:lnTo>
                    <a:pt x="177038" y="354076"/>
                  </a:lnTo>
                  <a:cubicBezTo>
                    <a:pt x="79248" y="354076"/>
                    <a:pt x="0" y="274828"/>
                    <a:pt x="0" y="177038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9525"/>
              <a:ext cx="981113" cy="3636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351"/>
                </a:lnSpc>
              </a:pPr>
              <a:r>
                <a:rPr lang="en-US" sz="1125" b="true">
                  <a:solidFill>
                    <a:srgbClr val="A3121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iFOOD</a:t>
              </a:r>
            </a:p>
          </p:txBody>
        </p:sp>
      </p:grpSp>
      <p:sp>
        <p:nvSpPr>
          <p:cNvPr name="AutoShape 34" id="34"/>
          <p:cNvSpPr/>
          <p:nvPr/>
        </p:nvSpPr>
        <p:spPr>
          <a:xfrm flipV="true">
            <a:off x="2816489" y="6164901"/>
            <a:ext cx="349712" cy="0"/>
          </a:xfrm>
          <a:prstGeom prst="line">
            <a:avLst/>
          </a:prstGeom>
          <a:ln cap="rnd" w="19050">
            <a:solidFill>
              <a:srgbClr val="6F6F6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5" id="35"/>
          <p:cNvSpPr/>
          <p:nvPr/>
        </p:nvSpPr>
        <p:spPr>
          <a:xfrm flipV="true">
            <a:off x="5914743" y="6164901"/>
            <a:ext cx="370290" cy="0"/>
          </a:xfrm>
          <a:prstGeom prst="line">
            <a:avLst/>
          </a:prstGeom>
          <a:ln cap="rnd" w="19050">
            <a:solidFill>
              <a:srgbClr val="6F6F6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6" id="36"/>
          <p:cNvSpPr/>
          <p:nvPr/>
        </p:nvSpPr>
        <p:spPr>
          <a:xfrm>
            <a:off x="9012997" y="6164901"/>
            <a:ext cx="331947" cy="0"/>
          </a:xfrm>
          <a:prstGeom prst="line">
            <a:avLst/>
          </a:prstGeom>
          <a:ln cap="rnd" w="19050">
            <a:solidFill>
              <a:srgbClr val="6F6F6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7" id="37"/>
          <p:cNvSpPr/>
          <p:nvPr/>
        </p:nvSpPr>
        <p:spPr>
          <a:xfrm>
            <a:off x="12111251" y="6164901"/>
            <a:ext cx="331947" cy="0"/>
          </a:xfrm>
          <a:prstGeom prst="line">
            <a:avLst/>
          </a:prstGeom>
          <a:ln cap="rnd" w="19050">
            <a:solidFill>
              <a:srgbClr val="6F6F6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8" id="38"/>
          <p:cNvSpPr/>
          <p:nvPr/>
        </p:nvSpPr>
        <p:spPr>
          <a:xfrm>
            <a:off x="15209504" y="6164901"/>
            <a:ext cx="427750" cy="0"/>
          </a:xfrm>
          <a:prstGeom prst="line">
            <a:avLst/>
          </a:prstGeom>
          <a:ln cap="rnd" w="19050">
            <a:solidFill>
              <a:srgbClr val="6F6F6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39" id="39"/>
          <p:cNvSpPr/>
          <p:nvPr/>
        </p:nvSpPr>
        <p:spPr>
          <a:xfrm flipH="true">
            <a:off x="9200320" y="4623874"/>
            <a:ext cx="12121" cy="356273"/>
          </a:xfrm>
          <a:prstGeom prst="line">
            <a:avLst/>
          </a:prstGeom>
          <a:ln cap="rnd" w="19050">
            <a:solidFill>
              <a:srgbClr val="6F6F6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0" id="40"/>
          <p:cNvSpPr/>
          <p:nvPr/>
        </p:nvSpPr>
        <p:spPr>
          <a:xfrm rot="17880">
            <a:off x="4564742" y="4954410"/>
            <a:ext cx="6229007" cy="0"/>
          </a:xfrm>
          <a:prstGeom prst="line">
            <a:avLst/>
          </a:prstGeom>
          <a:ln cap="rnd" w="19050">
            <a:solidFill>
              <a:srgbClr val="6F6F6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1" id="41"/>
          <p:cNvSpPr/>
          <p:nvPr/>
        </p:nvSpPr>
        <p:spPr>
          <a:xfrm flipH="true">
            <a:off x="4564784" y="4947727"/>
            <a:ext cx="8" cy="320109"/>
          </a:xfrm>
          <a:prstGeom prst="line">
            <a:avLst/>
          </a:prstGeom>
          <a:ln cap="rnd" w="19050">
            <a:solidFill>
              <a:srgbClr val="6F6F6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2" id="42"/>
          <p:cNvSpPr/>
          <p:nvPr/>
        </p:nvSpPr>
        <p:spPr>
          <a:xfrm flipH="true">
            <a:off x="7654752" y="4947727"/>
            <a:ext cx="8294" cy="326037"/>
          </a:xfrm>
          <a:prstGeom prst="line">
            <a:avLst/>
          </a:prstGeom>
          <a:ln cap="rnd" w="19050">
            <a:solidFill>
              <a:srgbClr val="6F6F6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AutoShape 43" id="43"/>
          <p:cNvSpPr/>
          <p:nvPr/>
        </p:nvSpPr>
        <p:spPr>
          <a:xfrm>
            <a:off x="10777509" y="4980146"/>
            <a:ext cx="0" cy="293618"/>
          </a:xfrm>
          <a:prstGeom prst="line">
            <a:avLst/>
          </a:prstGeom>
          <a:ln cap="rnd" w="19050">
            <a:solidFill>
              <a:srgbClr val="6F6F6F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44" id="44"/>
          <p:cNvSpPr txBox="true"/>
          <p:nvPr/>
        </p:nvSpPr>
        <p:spPr>
          <a:xfrm rot="0">
            <a:off x="9294771" y="4635056"/>
            <a:ext cx="1327823" cy="284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5"/>
              </a:lnSpc>
            </a:pPr>
            <a:r>
              <a:rPr lang="en-US" sz="1396">
                <a:solidFill>
                  <a:srgbClr val="6B6B6B"/>
                </a:solidFill>
                <a:latin typeface="Arial"/>
                <a:ea typeface="Arial"/>
                <a:cs typeface="Arial"/>
                <a:sym typeface="Arial"/>
              </a:rPr>
              <a:t>entra em</a:t>
            </a:r>
          </a:p>
        </p:txBody>
      </p:sp>
      <p:sp>
        <p:nvSpPr>
          <p:cNvPr name="AutoShape 45" id="45"/>
          <p:cNvSpPr/>
          <p:nvPr/>
        </p:nvSpPr>
        <p:spPr>
          <a:xfrm flipV="true">
            <a:off x="16779981" y="3996126"/>
            <a:ext cx="1" cy="1353043"/>
          </a:xfrm>
          <a:prstGeom prst="line">
            <a:avLst/>
          </a:prstGeom>
          <a:ln cap="rnd" w="19050">
            <a:solidFill>
              <a:srgbClr val="C8353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6" id="46"/>
          <p:cNvSpPr/>
          <p:nvPr/>
        </p:nvSpPr>
        <p:spPr>
          <a:xfrm rot="10773360">
            <a:off x="12598060" y="4002805"/>
            <a:ext cx="4181989" cy="0"/>
          </a:xfrm>
          <a:prstGeom prst="line">
            <a:avLst/>
          </a:prstGeom>
          <a:ln cap="rnd" w="19050">
            <a:solidFill>
              <a:srgbClr val="C8353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7" id="47"/>
          <p:cNvSpPr/>
          <p:nvPr/>
        </p:nvSpPr>
        <p:spPr>
          <a:xfrm flipH="true">
            <a:off x="12288301" y="4028534"/>
            <a:ext cx="326028" cy="2"/>
          </a:xfrm>
          <a:prstGeom prst="line">
            <a:avLst/>
          </a:prstGeom>
          <a:ln cap="rnd" w="19050">
            <a:solidFill>
              <a:srgbClr val="C8353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48" id="48"/>
          <p:cNvSpPr txBox="true"/>
          <p:nvPr/>
        </p:nvSpPr>
        <p:spPr>
          <a:xfrm rot="0">
            <a:off x="12503677" y="3661324"/>
            <a:ext cx="5311292" cy="284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5"/>
              </a:lnSpc>
            </a:pPr>
            <a:r>
              <a:rPr lang="en-US" sz="1396" b="true">
                <a:solidFill>
                  <a:srgbClr val="C8353A"/>
                </a:solidFill>
                <a:latin typeface="Arial Bold"/>
                <a:ea typeface="Arial Bold"/>
                <a:cs typeface="Arial Bold"/>
                <a:sym typeface="Arial Bold"/>
              </a:rPr>
              <a:t>aprende com suas escolhas e com o chat</a:t>
            </a:r>
          </a:p>
        </p:txBody>
      </p:sp>
      <p:sp>
        <p:nvSpPr>
          <p:cNvPr name="AutoShape 49" id="49"/>
          <p:cNvSpPr/>
          <p:nvPr/>
        </p:nvSpPr>
        <p:spPr>
          <a:xfrm>
            <a:off x="16763776" y="6955688"/>
            <a:ext cx="16205" cy="414537"/>
          </a:xfrm>
          <a:prstGeom prst="line">
            <a:avLst/>
          </a:prstGeom>
          <a:ln cap="rnd" w="19050">
            <a:solidFill>
              <a:srgbClr val="C8353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0" id="50"/>
          <p:cNvSpPr/>
          <p:nvPr/>
        </p:nvSpPr>
        <p:spPr>
          <a:xfrm rot="10761840">
            <a:off x="13859466" y="7344489"/>
            <a:ext cx="2920613" cy="0"/>
          </a:xfrm>
          <a:prstGeom prst="line">
            <a:avLst/>
          </a:prstGeom>
          <a:ln cap="rnd" w="19050">
            <a:solidFill>
              <a:srgbClr val="C8353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1" id="51"/>
          <p:cNvSpPr/>
          <p:nvPr/>
        </p:nvSpPr>
        <p:spPr>
          <a:xfrm flipH="true" flipV="true">
            <a:off x="13859556" y="7059478"/>
            <a:ext cx="1" cy="310745"/>
          </a:xfrm>
          <a:prstGeom prst="line">
            <a:avLst/>
          </a:prstGeom>
          <a:ln cap="rnd" w="19050">
            <a:solidFill>
              <a:srgbClr val="C8353A"/>
            </a:solidFill>
            <a:prstDash val="solid"/>
            <a:headEnd type="none" len="sm" w="sm"/>
            <a:tailEnd type="triangle" len="med" w="lg"/>
          </a:ln>
        </p:spPr>
      </p:sp>
      <p:sp>
        <p:nvSpPr>
          <p:cNvPr name="TextBox 52" id="52"/>
          <p:cNvSpPr txBox="true"/>
          <p:nvPr/>
        </p:nvSpPr>
        <p:spPr>
          <a:xfrm rot="0">
            <a:off x="14185582" y="7401363"/>
            <a:ext cx="3319558" cy="284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5"/>
              </a:lnSpc>
            </a:pPr>
            <a:r>
              <a:rPr lang="en-US" sz="1396" b="true">
                <a:solidFill>
                  <a:srgbClr val="C8353A"/>
                </a:solidFill>
                <a:latin typeface="Arial Bold"/>
                <a:ea typeface="Arial Bold"/>
                <a:cs typeface="Arial Bold"/>
                <a:sym typeface="Arial Bold"/>
              </a:rPr>
              <a:t>altera o carrinho real</a:t>
            </a:r>
          </a:p>
        </p:txBody>
      </p:sp>
      <p:sp>
        <p:nvSpPr>
          <p:cNvPr name="AutoShape 53" id="53"/>
          <p:cNvSpPr/>
          <p:nvPr/>
        </p:nvSpPr>
        <p:spPr>
          <a:xfrm rot="3420">
            <a:off x="633193" y="8743474"/>
            <a:ext cx="17190358" cy="0"/>
          </a:xfrm>
          <a:prstGeom prst="line">
            <a:avLst/>
          </a:prstGeom>
          <a:ln cap="rnd" w="9525">
            <a:solidFill>
              <a:srgbClr val="E2E2E2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4" id="54"/>
          <p:cNvGrpSpPr/>
          <p:nvPr/>
        </p:nvGrpSpPr>
        <p:grpSpPr>
          <a:xfrm rot="0">
            <a:off x="641785" y="9124455"/>
            <a:ext cx="354082" cy="354082"/>
            <a:chOff x="0" y="0"/>
            <a:chExt cx="472110" cy="472110"/>
          </a:xfrm>
        </p:grpSpPr>
        <p:sp>
          <p:nvSpPr>
            <p:cNvPr name="Freeform 55" id="55" descr="lock.png"/>
            <p:cNvSpPr/>
            <p:nvPr/>
          </p:nvSpPr>
          <p:spPr>
            <a:xfrm flipH="false" flipV="false" rot="0">
              <a:off x="0" y="0"/>
              <a:ext cx="472059" cy="472059"/>
            </a:xfrm>
            <a:custGeom>
              <a:avLst/>
              <a:gdLst/>
              <a:ahLst/>
              <a:cxnLst/>
              <a:rect r="r" b="b" t="t" l="l"/>
              <a:pathLst>
                <a:path h="472059" w="472059">
                  <a:moveTo>
                    <a:pt x="0" y="0"/>
                  </a:moveTo>
                  <a:lnTo>
                    <a:pt x="472059" y="0"/>
                  </a:lnTo>
                  <a:lnTo>
                    <a:pt x="472059" y="472059"/>
                  </a:lnTo>
                  <a:lnTo>
                    <a:pt x="0" y="4720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0" b="-10"/>
              </a:stretch>
            </a:blipFill>
          </p:spPr>
        </p:sp>
      </p:grpSp>
      <p:grpSp>
        <p:nvGrpSpPr>
          <p:cNvPr name="Group 56" id="56"/>
          <p:cNvGrpSpPr/>
          <p:nvPr/>
        </p:nvGrpSpPr>
        <p:grpSpPr>
          <a:xfrm rot="0">
            <a:off x="1150782" y="9080192"/>
            <a:ext cx="5200640" cy="442608"/>
            <a:chOff x="0" y="0"/>
            <a:chExt cx="6934187" cy="590144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6934191" cy="590143"/>
            </a:xfrm>
            <a:custGeom>
              <a:avLst/>
              <a:gdLst/>
              <a:ahLst/>
              <a:cxnLst/>
              <a:rect r="r" b="b" t="t" l="l"/>
              <a:pathLst>
                <a:path h="590143" w="6934191">
                  <a:moveTo>
                    <a:pt x="0" y="0"/>
                  </a:moveTo>
                  <a:lnTo>
                    <a:pt x="6934191" y="0"/>
                  </a:lnTo>
                  <a:lnTo>
                    <a:pt x="6934191" y="590143"/>
                  </a:lnTo>
                  <a:lnTo>
                    <a:pt x="0" y="59014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8949" r="0" b="-178949"/>
              </a:stretch>
            </a:blipFill>
          </p:spPr>
        </p:sp>
        <p:sp>
          <p:nvSpPr>
            <p:cNvPr name="TextBox 58" id="58"/>
            <p:cNvSpPr txBox="true"/>
            <p:nvPr/>
          </p:nvSpPr>
          <p:spPr>
            <a:xfrm>
              <a:off x="0" y="-19050"/>
              <a:ext cx="6934187" cy="6091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6"/>
                </a:lnSpc>
              </a:pPr>
              <a:r>
                <a:rPr lang="en-US" sz="2521">
                  <a:solidFill>
                    <a:srgbClr val="1F1F1F"/>
                  </a:solidFill>
                  <a:latin typeface="Arial"/>
                  <a:ea typeface="Arial"/>
                  <a:cs typeface="Arial"/>
                  <a:sym typeface="Arial"/>
                </a:rPr>
                <a:t>Mesma lista, mesmo carrinho.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6285033" y="9124455"/>
            <a:ext cx="354082" cy="354082"/>
            <a:chOff x="0" y="0"/>
            <a:chExt cx="472110" cy="472110"/>
          </a:xfrm>
        </p:grpSpPr>
        <p:sp>
          <p:nvSpPr>
            <p:cNvPr name="Freeform 60" id="60" descr="check.png"/>
            <p:cNvSpPr/>
            <p:nvPr/>
          </p:nvSpPr>
          <p:spPr>
            <a:xfrm flipH="false" flipV="false" rot="0">
              <a:off x="0" y="0"/>
              <a:ext cx="472059" cy="472059"/>
            </a:xfrm>
            <a:custGeom>
              <a:avLst/>
              <a:gdLst/>
              <a:ahLst/>
              <a:cxnLst/>
              <a:rect r="r" b="b" t="t" l="l"/>
              <a:pathLst>
                <a:path h="472059" w="472059">
                  <a:moveTo>
                    <a:pt x="0" y="0"/>
                  </a:moveTo>
                  <a:lnTo>
                    <a:pt x="472059" y="0"/>
                  </a:lnTo>
                  <a:lnTo>
                    <a:pt x="472059" y="472059"/>
                  </a:lnTo>
                  <a:lnTo>
                    <a:pt x="0" y="4720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-10" b="-10"/>
              </a:stretch>
            </a:blip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6794030" y="9080192"/>
            <a:ext cx="5200640" cy="442608"/>
            <a:chOff x="0" y="0"/>
            <a:chExt cx="6934187" cy="590144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6934191" cy="590143"/>
            </a:xfrm>
            <a:custGeom>
              <a:avLst/>
              <a:gdLst/>
              <a:ahLst/>
              <a:cxnLst/>
              <a:rect r="r" b="b" t="t" l="l"/>
              <a:pathLst>
                <a:path h="590143" w="6934191">
                  <a:moveTo>
                    <a:pt x="0" y="0"/>
                  </a:moveTo>
                  <a:lnTo>
                    <a:pt x="6934191" y="0"/>
                  </a:lnTo>
                  <a:lnTo>
                    <a:pt x="6934191" y="590143"/>
                  </a:lnTo>
                  <a:lnTo>
                    <a:pt x="0" y="59014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8949" r="0" b="-178949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19050"/>
              <a:ext cx="6934187" cy="6091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6"/>
                </a:lnSpc>
              </a:pPr>
              <a:r>
                <a:rPr lang="en-US" sz="2521">
                  <a:solidFill>
                    <a:srgbClr val="1F1F1F"/>
                  </a:solidFill>
                  <a:latin typeface="Arial"/>
                  <a:ea typeface="Arial"/>
                  <a:cs typeface="Arial"/>
                  <a:sym typeface="Arial"/>
                </a:rPr>
                <a:t>O total vem do carrinho real.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11729114" y="9124455"/>
            <a:ext cx="354082" cy="354082"/>
            <a:chOff x="0" y="0"/>
            <a:chExt cx="472110" cy="472110"/>
          </a:xfrm>
        </p:grpSpPr>
        <p:sp>
          <p:nvSpPr>
            <p:cNvPr name="Freeform 65" id="65" descr="chat.png"/>
            <p:cNvSpPr/>
            <p:nvPr/>
          </p:nvSpPr>
          <p:spPr>
            <a:xfrm flipH="false" flipV="false" rot="0">
              <a:off x="0" y="0"/>
              <a:ext cx="472059" cy="472059"/>
            </a:xfrm>
            <a:custGeom>
              <a:avLst/>
              <a:gdLst/>
              <a:ahLst/>
              <a:cxnLst/>
              <a:rect r="r" b="b" t="t" l="l"/>
              <a:pathLst>
                <a:path h="472059" w="472059">
                  <a:moveTo>
                    <a:pt x="0" y="0"/>
                  </a:moveTo>
                  <a:lnTo>
                    <a:pt x="472059" y="0"/>
                  </a:lnTo>
                  <a:lnTo>
                    <a:pt x="472059" y="472059"/>
                  </a:lnTo>
                  <a:lnTo>
                    <a:pt x="0" y="4720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0" b="-10"/>
              </a:stretch>
            </a:blipFill>
          </p:spPr>
        </p:sp>
      </p:grpSp>
      <p:grpSp>
        <p:nvGrpSpPr>
          <p:cNvPr name="Group 66" id="66"/>
          <p:cNvGrpSpPr/>
          <p:nvPr/>
        </p:nvGrpSpPr>
        <p:grpSpPr>
          <a:xfrm rot="0">
            <a:off x="12238111" y="9080192"/>
            <a:ext cx="5200640" cy="442608"/>
            <a:chOff x="0" y="0"/>
            <a:chExt cx="6934187" cy="590144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934191" cy="590143"/>
            </a:xfrm>
            <a:custGeom>
              <a:avLst/>
              <a:gdLst/>
              <a:ahLst/>
              <a:cxnLst/>
              <a:rect r="r" b="b" t="t" l="l"/>
              <a:pathLst>
                <a:path h="590143" w="6934191">
                  <a:moveTo>
                    <a:pt x="0" y="0"/>
                  </a:moveTo>
                  <a:lnTo>
                    <a:pt x="6934191" y="0"/>
                  </a:lnTo>
                  <a:lnTo>
                    <a:pt x="6934191" y="590143"/>
                  </a:lnTo>
                  <a:lnTo>
                    <a:pt x="0" y="59014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78949" r="0" b="-178949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19050"/>
              <a:ext cx="6934187" cy="60919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026"/>
                </a:lnSpc>
              </a:pPr>
              <a:r>
                <a:rPr lang="en-US" sz="2521">
                  <a:solidFill>
                    <a:srgbClr val="1F1F1F"/>
                  </a:solidFill>
                  <a:latin typeface="Arial"/>
                  <a:ea typeface="Arial"/>
                  <a:cs typeface="Arial"/>
                  <a:sym typeface="Arial"/>
                </a:rPr>
                <a:t>Agente com tools só no chat.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7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1085850"/>
            <a:ext cx="16325088" cy="773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40"/>
              </a:lnSpc>
            </a:pPr>
            <a:r>
              <a:rPr lang="en-US" b="true" sz="5400" spc="-75">
                <a:solidFill>
                  <a:srgbClr val="1F1F1F"/>
                </a:solidFill>
                <a:latin typeface="Arimo Bold"/>
                <a:ea typeface="Arimo Bold"/>
                <a:cs typeface="Arimo Bold"/>
                <a:sym typeface="Arimo Bold"/>
              </a:rPr>
              <a:t>Próximos passos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219200" y="2354580"/>
            <a:ext cx="5035553" cy="4149090"/>
            <a:chOff x="0" y="0"/>
            <a:chExt cx="6714071" cy="553212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713982" cy="5532120"/>
            </a:xfrm>
            <a:custGeom>
              <a:avLst/>
              <a:gdLst/>
              <a:ahLst/>
              <a:cxnLst/>
              <a:rect r="r" b="b" t="t" l="l"/>
              <a:pathLst>
                <a:path h="5532120" w="6713982">
                  <a:moveTo>
                    <a:pt x="0" y="350012"/>
                  </a:moveTo>
                  <a:cubicBezTo>
                    <a:pt x="0" y="156718"/>
                    <a:pt x="156718" y="0"/>
                    <a:pt x="350012" y="0"/>
                  </a:cubicBezTo>
                  <a:lnTo>
                    <a:pt x="6363970" y="0"/>
                  </a:lnTo>
                  <a:cubicBezTo>
                    <a:pt x="6557264" y="0"/>
                    <a:pt x="6713982" y="156718"/>
                    <a:pt x="6713982" y="350012"/>
                  </a:cubicBezTo>
                  <a:lnTo>
                    <a:pt x="6713982" y="5182108"/>
                  </a:lnTo>
                  <a:cubicBezTo>
                    <a:pt x="6713982" y="5375402"/>
                    <a:pt x="6557264" y="5532120"/>
                    <a:pt x="6363970" y="5532120"/>
                  </a:cubicBezTo>
                  <a:lnTo>
                    <a:pt x="350012" y="5532120"/>
                  </a:lnTo>
                  <a:cubicBezTo>
                    <a:pt x="156718" y="5532120"/>
                    <a:pt x="0" y="5375402"/>
                    <a:pt x="0" y="5182108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BEBEB"/>
              </a:solidFill>
              <a:prstDash val="solid"/>
              <a:miter/>
            </a:ln>
          </p:spPr>
        </p:sp>
      </p:grpSp>
      <p:grpSp>
        <p:nvGrpSpPr>
          <p:cNvPr name="Group 5" id="5"/>
          <p:cNvGrpSpPr/>
          <p:nvPr/>
        </p:nvGrpSpPr>
        <p:grpSpPr>
          <a:xfrm rot="0">
            <a:off x="1685925" y="2821305"/>
            <a:ext cx="914400" cy="914400"/>
            <a:chOff x="0" y="0"/>
            <a:chExt cx="1219200" cy="1219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FDE8EA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914525" y="3049905"/>
            <a:ext cx="457200" cy="457200"/>
            <a:chOff x="0" y="0"/>
            <a:chExt cx="609600" cy="609600"/>
          </a:xfrm>
        </p:grpSpPr>
        <p:sp>
          <p:nvSpPr>
            <p:cNvPr name="Freeform 8" id="8" descr="Users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685925" y="3983355"/>
            <a:ext cx="3281204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F1F1F"/>
                </a:solidFill>
                <a:latin typeface="Arimo Bold"/>
                <a:ea typeface="Arimo Bold"/>
                <a:cs typeface="Arimo Bold"/>
                <a:sym typeface="Arimo Bold"/>
              </a:rPr>
              <a:t>Compra em grupo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85925" y="4669155"/>
            <a:ext cx="4225166" cy="834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6B6B6B"/>
                </a:solidFill>
                <a:latin typeface="Arimo"/>
                <a:ea typeface="Arimo"/>
                <a:cs typeface="Arimo"/>
                <a:sym typeface="Arimo"/>
              </a:rPr>
              <a:t>Lista da casa com divisão da conta.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635753" y="2354580"/>
            <a:ext cx="5035553" cy="4149090"/>
            <a:chOff x="0" y="0"/>
            <a:chExt cx="6714071" cy="55321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713982" cy="5532120"/>
            </a:xfrm>
            <a:custGeom>
              <a:avLst/>
              <a:gdLst/>
              <a:ahLst/>
              <a:cxnLst/>
              <a:rect r="r" b="b" t="t" l="l"/>
              <a:pathLst>
                <a:path h="5532120" w="6713982">
                  <a:moveTo>
                    <a:pt x="0" y="350012"/>
                  </a:moveTo>
                  <a:cubicBezTo>
                    <a:pt x="0" y="156718"/>
                    <a:pt x="156718" y="0"/>
                    <a:pt x="350012" y="0"/>
                  </a:cubicBezTo>
                  <a:lnTo>
                    <a:pt x="6363970" y="0"/>
                  </a:lnTo>
                  <a:cubicBezTo>
                    <a:pt x="6557264" y="0"/>
                    <a:pt x="6713982" y="156718"/>
                    <a:pt x="6713982" y="350012"/>
                  </a:cubicBezTo>
                  <a:lnTo>
                    <a:pt x="6713982" y="5182108"/>
                  </a:lnTo>
                  <a:cubicBezTo>
                    <a:pt x="6713982" y="5375402"/>
                    <a:pt x="6557264" y="5532120"/>
                    <a:pt x="6363970" y="5532120"/>
                  </a:cubicBezTo>
                  <a:lnTo>
                    <a:pt x="350012" y="5532120"/>
                  </a:lnTo>
                  <a:cubicBezTo>
                    <a:pt x="156718" y="5532120"/>
                    <a:pt x="0" y="5375402"/>
                    <a:pt x="0" y="5182108"/>
                  </a:cubicBezTo>
                  <a:close/>
                </a:path>
              </a:pathLst>
            </a:custGeom>
            <a:solidFill>
              <a:srgbClr val="FFFFFF"/>
            </a:solidFill>
            <a:ln w="9525" cap="sq">
              <a:solidFill>
                <a:srgbClr val="EBEBEB"/>
              </a:solidFill>
              <a:prstDash val="solid"/>
              <a:miter/>
            </a:ln>
          </p:spPr>
        </p:sp>
      </p:grpSp>
      <p:grpSp>
        <p:nvGrpSpPr>
          <p:cNvPr name="Group 13" id="13"/>
          <p:cNvGrpSpPr/>
          <p:nvPr/>
        </p:nvGrpSpPr>
        <p:grpSpPr>
          <a:xfrm rot="0">
            <a:off x="7102478" y="2821305"/>
            <a:ext cx="914400" cy="914400"/>
            <a:chOff x="0" y="0"/>
            <a:chExt cx="1219200" cy="1219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FDE8EA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7331078" y="3049905"/>
            <a:ext cx="457200" cy="457200"/>
            <a:chOff x="0" y="0"/>
            <a:chExt cx="609600" cy="609600"/>
          </a:xfrm>
        </p:grpSpPr>
        <p:sp>
          <p:nvSpPr>
            <p:cNvPr name="Freeform 16" id="16" descr="Lightning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102478" y="3983355"/>
            <a:ext cx="4225166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1F1F1F"/>
                </a:solidFill>
                <a:latin typeface="Arimo Bold"/>
                <a:ea typeface="Arimo Bold"/>
                <a:cs typeface="Arimo Bold"/>
                <a:sym typeface="Arimo Bold"/>
              </a:rPr>
              <a:t>Integração da proatividade no MCP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102478" y="5126355"/>
            <a:ext cx="4225166" cy="94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6B6B6B"/>
                </a:solidFill>
                <a:latin typeface="Arimo"/>
                <a:ea typeface="Arimo"/>
                <a:cs typeface="Arimo"/>
                <a:sym typeface="Arimo"/>
              </a:rPr>
              <a:t>Avisos com as ofertas do iFood.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052297" y="2354580"/>
            <a:ext cx="5016503" cy="4149090"/>
            <a:chOff x="0" y="0"/>
            <a:chExt cx="6688671" cy="55321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688710" cy="5532120"/>
            </a:xfrm>
            <a:custGeom>
              <a:avLst/>
              <a:gdLst/>
              <a:ahLst/>
              <a:cxnLst/>
              <a:rect r="r" b="b" t="t" l="l"/>
              <a:pathLst>
                <a:path h="5532120" w="6688710">
                  <a:moveTo>
                    <a:pt x="0" y="355600"/>
                  </a:moveTo>
                  <a:cubicBezTo>
                    <a:pt x="0" y="159258"/>
                    <a:pt x="159258" y="0"/>
                    <a:pt x="355600" y="0"/>
                  </a:cubicBezTo>
                  <a:lnTo>
                    <a:pt x="6333109" y="0"/>
                  </a:lnTo>
                  <a:cubicBezTo>
                    <a:pt x="6529451" y="0"/>
                    <a:pt x="6688710" y="159258"/>
                    <a:pt x="6688710" y="355600"/>
                  </a:cubicBezTo>
                  <a:lnTo>
                    <a:pt x="6688710" y="5176520"/>
                  </a:lnTo>
                  <a:cubicBezTo>
                    <a:pt x="6688710" y="5372862"/>
                    <a:pt x="6529451" y="5532120"/>
                    <a:pt x="6333109" y="5532120"/>
                  </a:cubicBezTo>
                  <a:lnTo>
                    <a:pt x="355600" y="5532120"/>
                  </a:lnTo>
                  <a:cubicBezTo>
                    <a:pt x="159258" y="5532120"/>
                    <a:pt x="0" y="5372862"/>
                    <a:pt x="0" y="5176520"/>
                  </a:cubicBezTo>
                  <a:close/>
                </a:path>
              </a:pathLst>
            </a:custGeom>
            <a:solidFill>
              <a:srgbClr val="D61F2C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2509497" y="2811780"/>
            <a:ext cx="914400" cy="914400"/>
            <a:chOff x="0" y="0"/>
            <a:chExt cx="1219200" cy="12192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2192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1219200">
                  <a:moveTo>
                    <a:pt x="0" y="609600"/>
                  </a:moveTo>
                  <a:cubicBezTo>
                    <a:pt x="0" y="272923"/>
                    <a:pt x="272923" y="0"/>
                    <a:pt x="609600" y="0"/>
                  </a:cubicBezTo>
                  <a:cubicBezTo>
                    <a:pt x="946277" y="0"/>
                    <a:pt x="1219200" y="272923"/>
                    <a:pt x="1219200" y="609600"/>
                  </a:cubicBezTo>
                  <a:cubicBezTo>
                    <a:pt x="1219200" y="946277"/>
                    <a:pt x="946277" y="1219200"/>
                    <a:pt x="609600" y="1219200"/>
                  </a:cubicBezTo>
                  <a:cubicBezTo>
                    <a:pt x="272923" y="1219200"/>
                    <a:pt x="0" y="946277"/>
                    <a:pt x="0" y="609600"/>
                  </a:cubicBezTo>
                  <a:close/>
                </a:path>
              </a:pathLst>
            </a:custGeom>
            <a:solidFill>
              <a:srgbClr val="FFFFFF">
                <a:alpha val="2353"/>
              </a:srgbClr>
            </a:solidFill>
          </p:spPr>
        </p:sp>
      </p:grpSp>
      <p:grpSp>
        <p:nvGrpSpPr>
          <p:cNvPr name="Group 23" id="23"/>
          <p:cNvGrpSpPr/>
          <p:nvPr/>
        </p:nvGrpSpPr>
        <p:grpSpPr>
          <a:xfrm rot="0">
            <a:off x="12738097" y="3040380"/>
            <a:ext cx="457200" cy="457200"/>
            <a:chOff x="0" y="0"/>
            <a:chExt cx="609600" cy="609600"/>
          </a:xfrm>
        </p:grpSpPr>
        <p:sp>
          <p:nvSpPr>
            <p:cNvPr name="Freeform 24" id="24" descr="Home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0" y="0"/>
                  </a:moveTo>
                  <a:lnTo>
                    <a:pt x="6096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2509497" y="3973830"/>
            <a:ext cx="4225166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30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Dentro do app do iFood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509497" y="5116830"/>
            <a:ext cx="4225166" cy="521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Listas flexíveis para todos.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61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19200" y="3531870"/>
            <a:ext cx="16325088" cy="83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9"/>
              </a:lnSpc>
            </a:pPr>
            <a:r>
              <a:rPr lang="en-US" b="true" sz="5400" spc="-75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Menos trabalho em cada compra.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219200" y="4587240"/>
            <a:ext cx="9860756" cy="82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9"/>
              </a:lnSpc>
            </a:pPr>
            <a:r>
              <a:rPr lang="en-US" b="true" sz="5400" spc="-75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Solução em linguagem natural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9200" y="5642610"/>
            <a:ext cx="16325088" cy="836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9"/>
              </a:lnSpc>
            </a:pPr>
            <a:r>
              <a:rPr lang="en-US" b="true" sz="5400" spc="-75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Um motivo para voltar toda semana.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219200" y="9220200"/>
            <a:ext cx="533400" cy="533400"/>
            <a:chOff x="0" y="0"/>
            <a:chExt cx="711200" cy="711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11200" cy="711200"/>
            </a:xfrm>
            <a:custGeom>
              <a:avLst/>
              <a:gdLst/>
              <a:ahLst/>
              <a:cxnLst/>
              <a:rect r="r" b="b" t="t" l="l"/>
              <a:pathLst>
                <a:path h="711200" w="711200">
                  <a:moveTo>
                    <a:pt x="0" y="203200"/>
                  </a:moveTo>
                  <a:cubicBezTo>
                    <a:pt x="0" y="90932"/>
                    <a:pt x="90932" y="0"/>
                    <a:pt x="203200" y="0"/>
                  </a:cubicBezTo>
                  <a:lnTo>
                    <a:pt x="508000" y="0"/>
                  </a:lnTo>
                  <a:cubicBezTo>
                    <a:pt x="620268" y="0"/>
                    <a:pt x="711200" y="90932"/>
                    <a:pt x="711200" y="203200"/>
                  </a:cubicBezTo>
                  <a:lnTo>
                    <a:pt x="711200" y="508000"/>
                  </a:lnTo>
                  <a:cubicBezTo>
                    <a:pt x="711200" y="620268"/>
                    <a:pt x="620268" y="711200"/>
                    <a:pt x="508000" y="711200"/>
                  </a:cubicBezTo>
                  <a:lnTo>
                    <a:pt x="203200" y="711200"/>
                  </a:lnTo>
                  <a:cubicBezTo>
                    <a:pt x="90932" y="711200"/>
                    <a:pt x="0" y="620268"/>
                    <a:pt x="0" y="50800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314450" y="9315450"/>
            <a:ext cx="342900" cy="342900"/>
            <a:chOff x="0" y="0"/>
            <a:chExt cx="457200" cy="457200"/>
          </a:xfrm>
        </p:grpSpPr>
        <p:sp>
          <p:nvSpPr>
            <p:cNvPr name="Freeform 8" id="8" descr="Logo da Cesta"/>
            <p:cNvSpPr/>
            <p:nvPr/>
          </p:nvSpPr>
          <p:spPr>
            <a:xfrm flipH="false" flipV="false" rot="0">
              <a:off x="0" y="0"/>
              <a:ext cx="457200" cy="457200"/>
            </a:xfrm>
            <a:custGeom>
              <a:avLst/>
              <a:gdLst/>
              <a:ahLst/>
              <a:cxnLst/>
              <a:rect r="r" b="b" t="t" l="l"/>
              <a:pathLst>
                <a:path h="457200" w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1943100" y="9269730"/>
            <a:ext cx="2872169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Cesta · time Gnomers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DAHYXPpEqoY</dc:identifier>
  <dcterms:modified xsi:type="dcterms:W3CDTF">2011-08-01T06:04:30Z</dcterms:modified>
  <cp:revision>1</cp:revision>
  <dc:title>Cesta · Pitch SEMCOMP × iFood 2026.pptx</dc:title>
</cp:coreProperties>
</file>